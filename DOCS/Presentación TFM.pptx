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al Bold" panose="020B0604020202020204" charset="0"/>
      <p:regular r:id="rId9"/>
    </p:embeddedFont>
    <p:embeddedFont>
      <p:font typeface="Gilda Display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-1140" y="-28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666750"/>
            <a:ext cx="8629650" cy="8953500"/>
            <a:chOff x="0" y="0"/>
            <a:chExt cx="1336959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959" cy="1387131"/>
            </a:xfrm>
            <a:custGeom>
              <a:avLst/>
              <a:gdLst/>
              <a:ahLst/>
              <a:cxnLst/>
              <a:rect l="l" t="t" r="r" b="b"/>
              <a:pathLst>
                <a:path w="1336959" h="1387131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-1876" r="-1876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0665819" y="2891697"/>
            <a:ext cx="6886575" cy="4894569"/>
            <a:chOff x="0" y="0"/>
            <a:chExt cx="9182100" cy="6526092"/>
          </a:xfrm>
        </p:grpSpPr>
        <p:sp>
          <p:nvSpPr>
            <p:cNvPr id="6" name="TextBox 6"/>
            <p:cNvSpPr txBox="1"/>
            <p:nvPr/>
          </p:nvSpPr>
          <p:spPr>
            <a:xfrm>
              <a:off x="0" y="3022839"/>
              <a:ext cx="9182100" cy="3503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00"/>
                </a:lnSpc>
              </a:pPr>
              <a:r>
                <a:rPr lang="en-US" sz="6700">
                  <a:solidFill>
                    <a:srgbClr val="D9E3F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SOC INTELIGENTE Y ADAPTATIVO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592545"/>
              <a:ext cx="9182100" cy="934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80"/>
                </a:lnSpc>
              </a:pPr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9182100" cy="1024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15/03/2026</a:t>
              </a:r>
            </a:p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Pablo Noriega Vázquez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7722" b="-7722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8998844"/>
            <a:chOff x="0" y="0"/>
            <a:chExt cx="11099800" cy="11998458"/>
          </a:xfrm>
        </p:grpSpPr>
        <p:sp>
          <p:nvSpPr>
            <p:cNvPr id="5" name="TextBox 5"/>
            <p:cNvSpPr txBox="1"/>
            <p:nvPr/>
          </p:nvSpPr>
          <p:spPr>
            <a:xfrm>
              <a:off x="0" y="3094514"/>
              <a:ext cx="11099800" cy="89039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0"/>
                </a:lnSpc>
              </a:pPr>
              <a:r>
                <a:rPr lang="en-US" sz="2900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Existen varios problemas en los SOC actuales:</a:t>
              </a:r>
            </a:p>
            <a:p>
              <a:pPr algn="l">
                <a:lnSpc>
                  <a:spcPts val="3900"/>
                </a:lnSpc>
              </a:pPr>
              <a:endParaRPr lang="en-US" sz="2900">
                <a:solidFill>
                  <a:srgbClr val="D9E3F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3395" lvl="1" indent="-226697" algn="l">
                <a:lnSpc>
                  <a:spcPts val="2730"/>
                </a:lnSpc>
                <a:buFont typeface="Arial"/>
                <a:buChar char="•"/>
              </a:pPr>
              <a:r>
                <a:rPr lang="en-US" sz="2100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Gran volumen de alertas de seguridad procedentes de múltiples herramientas.</a:t>
              </a:r>
            </a:p>
            <a:p>
              <a:pPr algn="l">
                <a:lnSpc>
                  <a:spcPts val="2730"/>
                </a:lnSpc>
              </a:pPr>
              <a:endParaRPr lang="en-US" sz="2100">
                <a:solidFill>
                  <a:srgbClr val="D9E3F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3395" lvl="1" indent="-226697" algn="l">
                <a:lnSpc>
                  <a:spcPts val="2730"/>
                </a:lnSpc>
                <a:buFont typeface="Arial"/>
                <a:buChar char="•"/>
              </a:pPr>
              <a:r>
                <a:rPr lang="en-US" sz="2100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Sobrecarga de trabajo para los analistas (alert fatigue).</a:t>
              </a:r>
            </a:p>
            <a:p>
              <a:pPr algn="l">
                <a:lnSpc>
                  <a:spcPts val="2730"/>
                </a:lnSpc>
              </a:pPr>
              <a:endParaRPr lang="en-US" sz="2100">
                <a:solidFill>
                  <a:srgbClr val="D9E3F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3395" lvl="1" indent="-226697" algn="l">
                <a:lnSpc>
                  <a:spcPts val="2730"/>
                </a:lnSpc>
                <a:buFont typeface="Arial"/>
                <a:buChar char="•"/>
              </a:pPr>
              <a:r>
                <a:rPr lang="en-US" sz="2100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Procesos de análisis y respuesta en gran parte manuales.</a:t>
              </a:r>
            </a:p>
            <a:p>
              <a:pPr algn="l">
                <a:lnSpc>
                  <a:spcPts val="2730"/>
                </a:lnSpc>
              </a:pPr>
              <a:endParaRPr lang="en-US" sz="2100">
                <a:solidFill>
                  <a:srgbClr val="D9E3F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3395" lvl="1" indent="-226697" algn="l">
                <a:lnSpc>
                  <a:spcPts val="2730"/>
                </a:lnSpc>
                <a:buFont typeface="Arial"/>
                <a:buChar char="•"/>
              </a:pPr>
              <a:r>
                <a:rPr lang="en-US" sz="2100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Dificultad para mantener tiempos de respuesta adecuados.</a:t>
              </a:r>
            </a:p>
            <a:p>
              <a:pPr marL="0" lvl="0" indent="0" algn="l">
                <a:lnSpc>
                  <a:spcPts val="3900"/>
                </a:lnSpc>
              </a:pPr>
              <a:endParaRPr lang="en-US" sz="2100">
                <a:solidFill>
                  <a:srgbClr val="D9E3F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>
                <a:lnSpc>
                  <a:spcPts val="3900"/>
                </a:lnSpc>
              </a:pPr>
              <a:endParaRPr lang="en-US" sz="2100">
                <a:solidFill>
                  <a:srgbClr val="D9E3F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>
                <a:lnSpc>
                  <a:spcPts val="3900"/>
                </a:lnSpc>
              </a:pPr>
              <a:endParaRPr lang="en-US" sz="2100">
                <a:solidFill>
                  <a:srgbClr val="D9E3F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>
                <a:lnSpc>
                  <a:spcPts val="3900"/>
                </a:lnSpc>
              </a:pPr>
              <a:endParaRPr lang="en-US" sz="2100">
                <a:solidFill>
                  <a:srgbClr val="D9E3F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>
                <a:lnSpc>
                  <a:spcPts val="3900"/>
                </a:lnSpc>
              </a:pPr>
              <a:endParaRPr lang="en-US" sz="2100">
                <a:solidFill>
                  <a:srgbClr val="D9E3F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>
                <a:lnSpc>
                  <a:spcPts val="3900"/>
                </a:lnSpc>
              </a:pPr>
              <a:endParaRPr lang="en-US" sz="2100">
                <a:solidFill>
                  <a:srgbClr val="D9E3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16286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99"/>
                </a:lnSpc>
              </a:pPr>
              <a:r>
                <a:rPr lang="en-US" sz="8899">
                  <a:solidFill>
                    <a:srgbClr val="D9E3F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Motivación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785377" y="9617969"/>
            <a:ext cx="10717246" cy="299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  <a:spcBef>
                <a:spcPct val="0"/>
              </a:spcBef>
            </a:pPr>
            <a:r>
              <a:rPr lang="en-US" sz="1697" b="1">
                <a:solidFill>
                  <a:srgbClr val="D9E3F0"/>
                </a:solidFill>
                <a:latin typeface="Arial Bold"/>
                <a:ea typeface="Arial Bold"/>
                <a:cs typeface="Arial Bold"/>
                <a:sym typeface="Arial Bold"/>
              </a:rPr>
              <a:t>Los SOC actuales necesitan automatización y apoyo inteligente para la toma de decisiones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437773">
            <a:off x="13770320" y="-6241286"/>
            <a:ext cx="12640239" cy="11904807"/>
          </a:xfrm>
          <a:custGeom>
            <a:avLst/>
            <a:gdLst/>
            <a:ahLst/>
            <a:cxnLst/>
            <a:rect l="l" t="t" r="r" b="b"/>
            <a:pathLst>
              <a:path w="12640239" h="11904807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666750"/>
            <a:ext cx="14077950" cy="2062288"/>
            <a:chOff x="0" y="0"/>
            <a:chExt cx="18770600" cy="2749717"/>
          </a:xfrm>
        </p:grpSpPr>
        <p:sp>
          <p:nvSpPr>
            <p:cNvPr id="4" name="TextBox 4"/>
            <p:cNvSpPr txBox="1"/>
            <p:nvPr/>
          </p:nvSpPr>
          <p:spPr>
            <a:xfrm>
              <a:off x="0" y="171450"/>
              <a:ext cx="18770600" cy="161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D9E3F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Objetivos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130493"/>
              <a:ext cx="18770600" cy="619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8884717" y="1711142"/>
            <a:ext cx="0" cy="511519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4524047" y="7192616"/>
            <a:ext cx="8721340" cy="2478821"/>
          </a:xfrm>
          <a:custGeom>
            <a:avLst/>
            <a:gdLst/>
            <a:ahLst/>
            <a:cxnLst/>
            <a:rect l="l" t="t" r="r" b="b"/>
            <a:pathLst>
              <a:path w="8721340" h="2478821">
                <a:moveTo>
                  <a:pt x="0" y="0"/>
                </a:moveTo>
                <a:lnTo>
                  <a:pt x="8721340" y="0"/>
                </a:lnTo>
                <a:lnTo>
                  <a:pt x="8721340" y="2478821"/>
                </a:lnTo>
                <a:lnTo>
                  <a:pt x="0" y="2478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9369" r="-254" b="-55637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66750" y="2927892"/>
            <a:ext cx="7705725" cy="2029737"/>
            <a:chOff x="0" y="0"/>
            <a:chExt cx="10274300" cy="2706316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9209598" cy="7091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10"/>
                </a:lnSpc>
                <a:spcBef>
                  <a:spcPct val="0"/>
                </a:spcBef>
              </a:pPr>
              <a:r>
                <a:rPr lang="en-US" sz="3425" b="1">
                  <a:solidFill>
                    <a:srgbClr val="D9E3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 General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22956"/>
              <a:ext cx="10274300" cy="1383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45"/>
                </a:lnSpc>
              </a:pPr>
              <a:r>
                <a:rPr lang="en-US" sz="3188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lang="en-US" sz="3188" u="none" strike="noStrike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iseñar e implementar un SOC parcialmente autogestionado mediante IA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96959" y="2927892"/>
            <a:ext cx="8891041" cy="3214409"/>
            <a:chOff x="0" y="0"/>
            <a:chExt cx="11854722" cy="4285878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9050"/>
              <a:ext cx="11854722" cy="539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8"/>
                </a:lnSpc>
                <a:spcBef>
                  <a:spcPct val="0"/>
                </a:spcBef>
              </a:pPr>
              <a:r>
                <a:rPr lang="en-US" sz="2598" b="1" u="none" strike="noStrike">
                  <a:solidFill>
                    <a:srgbClr val="D9E3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Objetivos Específicos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88713"/>
              <a:ext cx="11854722" cy="3297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439" lvl="1" indent="-269719" algn="l">
                <a:lnSpc>
                  <a:spcPts val="3248"/>
                </a:lnSpc>
                <a:buFont typeface="Arial"/>
                <a:buChar char="•"/>
              </a:pPr>
              <a:r>
                <a:rPr lang="en-US" sz="2498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Automatización de flujos operativos</a:t>
              </a:r>
            </a:p>
            <a:p>
              <a:pPr marL="539439" lvl="1" indent="-269719" algn="l">
                <a:lnSpc>
                  <a:spcPts val="3248"/>
                </a:lnSpc>
                <a:buFont typeface="Arial"/>
                <a:buChar char="•"/>
              </a:pPr>
              <a:r>
                <a:rPr lang="en-US" sz="2498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Recomendación de acciones mediante Machine Learning</a:t>
              </a:r>
            </a:p>
            <a:p>
              <a:pPr marL="539439" lvl="1" indent="-269719" algn="l">
                <a:lnSpc>
                  <a:spcPts val="3248"/>
                </a:lnSpc>
                <a:buFont typeface="Arial"/>
                <a:buChar char="•"/>
              </a:pPr>
              <a:r>
                <a:rPr lang="en-US" sz="2498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Monitorización del rendimiento del SOC</a:t>
              </a:r>
            </a:p>
            <a:p>
              <a:pPr marL="539439" lvl="1" indent="-269719" algn="l">
                <a:lnSpc>
                  <a:spcPts val="3248"/>
                </a:lnSpc>
                <a:buFont typeface="Arial"/>
                <a:buChar char="•"/>
              </a:pPr>
              <a:r>
                <a:rPr lang="en-US" sz="2498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Entrenamiento de analistas mediante simulación de incidentes</a:t>
              </a:r>
            </a:p>
            <a:p>
              <a:pPr marL="0" lvl="0" indent="0" algn="l">
                <a:lnSpc>
                  <a:spcPts val="3378"/>
                </a:lnSpc>
              </a:pPr>
              <a:endParaRPr lang="en-US" sz="2498">
                <a:solidFill>
                  <a:srgbClr val="D9E3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8324850" cy="2413692"/>
            <a:chOff x="0" y="0"/>
            <a:chExt cx="11099800" cy="3218256"/>
          </a:xfrm>
        </p:grpSpPr>
        <p:sp>
          <p:nvSpPr>
            <p:cNvPr id="3" name="TextBox 3"/>
            <p:cNvSpPr txBox="1"/>
            <p:nvPr/>
          </p:nvSpPr>
          <p:spPr>
            <a:xfrm>
              <a:off x="0" y="2047775"/>
              <a:ext cx="11099800" cy="1170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10"/>
                </a:lnSpc>
              </a:pPr>
              <a:r>
                <a:rPr lang="en-US" sz="2700">
                  <a:solidFill>
                    <a:srgbClr val="D9E3F0"/>
                  </a:solidFill>
                  <a:latin typeface="Arial"/>
                  <a:ea typeface="Arial"/>
                  <a:cs typeface="Arial"/>
                  <a:sym typeface="Arial"/>
                </a:rPr>
                <a:t>Arquitectura basada en microservicios desplegados en contenedores Docker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16123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D9E3F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Arquitectura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16649" y="7296063"/>
            <a:ext cx="2742651" cy="2675431"/>
            <a:chOff x="0" y="0"/>
            <a:chExt cx="3656868" cy="3567241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3656868" cy="3567241"/>
              <a:chOff x="0" y="0"/>
              <a:chExt cx="1417334" cy="138259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17334" cy="1382597"/>
              </a:xfrm>
              <a:custGeom>
                <a:avLst/>
                <a:gdLst/>
                <a:ahLst/>
                <a:cxnLst/>
                <a:rect l="l" t="t" r="r" b="b"/>
                <a:pathLst>
                  <a:path w="1417334" h="1382597">
                    <a:moveTo>
                      <a:pt x="127837" y="0"/>
                    </a:moveTo>
                    <a:lnTo>
                      <a:pt x="1289498" y="0"/>
                    </a:lnTo>
                    <a:cubicBezTo>
                      <a:pt x="1360100" y="0"/>
                      <a:pt x="1417334" y="57234"/>
                      <a:pt x="1417334" y="127837"/>
                    </a:cubicBezTo>
                    <a:lnTo>
                      <a:pt x="1417334" y="1254760"/>
                    </a:lnTo>
                    <a:cubicBezTo>
                      <a:pt x="1417334" y="1288664"/>
                      <a:pt x="1403866" y="1321180"/>
                      <a:pt x="1379892" y="1345154"/>
                    </a:cubicBezTo>
                    <a:cubicBezTo>
                      <a:pt x="1355918" y="1369128"/>
                      <a:pt x="1323402" y="1382597"/>
                      <a:pt x="1289498" y="1382597"/>
                    </a:cubicBezTo>
                    <a:lnTo>
                      <a:pt x="127837" y="1382597"/>
                    </a:lnTo>
                    <a:cubicBezTo>
                      <a:pt x="93932" y="1382597"/>
                      <a:pt x="61417" y="1369128"/>
                      <a:pt x="37443" y="1345154"/>
                    </a:cubicBezTo>
                    <a:cubicBezTo>
                      <a:pt x="13468" y="1321180"/>
                      <a:pt x="0" y="1288664"/>
                      <a:pt x="0" y="1254760"/>
                    </a:cubicBezTo>
                    <a:lnTo>
                      <a:pt x="0" y="127837"/>
                    </a:lnTo>
                    <a:cubicBezTo>
                      <a:pt x="0" y="93932"/>
                      <a:pt x="13468" y="61417"/>
                      <a:pt x="37443" y="37443"/>
                    </a:cubicBezTo>
                    <a:cubicBezTo>
                      <a:pt x="61417" y="13468"/>
                      <a:pt x="93932" y="0"/>
                      <a:pt x="127837" y="0"/>
                    </a:cubicBezTo>
                    <a:close/>
                  </a:path>
                </a:pathLst>
              </a:custGeom>
              <a:solidFill>
                <a:srgbClr val="1F3A8A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417334" cy="1392122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1474" y="1949844"/>
              <a:ext cx="3645393" cy="703716"/>
              <a:chOff x="0" y="0"/>
              <a:chExt cx="1412887" cy="27274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12887" cy="272747"/>
              </a:xfrm>
              <a:custGeom>
                <a:avLst/>
                <a:gdLst/>
                <a:ahLst/>
                <a:cxnLst/>
                <a:rect l="l" t="t" r="r" b="b"/>
                <a:pathLst>
                  <a:path w="1412887" h="272747">
                    <a:moveTo>
                      <a:pt x="0" y="0"/>
                    </a:moveTo>
                    <a:lnTo>
                      <a:pt x="1412887" y="0"/>
                    </a:lnTo>
                    <a:lnTo>
                      <a:pt x="1412887" y="272747"/>
                    </a:lnTo>
                    <a:lnTo>
                      <a:pt x="0" y="272747"/>
                    </a:lnTo>
                    <a:close/>
                  </a:path>
                </a:pathLst>
              </a:custGeom>
              <a:solidFill>
                <a:srgbClr val="06B6D4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9525"/>
                <a:ext cx="1412887" cy="282272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2102567"/>
              <a:ext cx="3656868" cy="1464675"/>
              <a:chOff x="0" y="0"/>
              <a:chExt cx="1417334" cy="56768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17334" cy="567681"/>
              </a:xfrm>
              <a:custGeom>
                <a:avLst/>
                <a:gdLst/>
                <a:ahLst/>
                <a:cxnLst/>
                <a:rect l="l" t="t" r="r" b="b"/>
                <a:pathLst>
                  <a:path w="1417334" h="567681">
                    <a:moveTo>
                      <a:pt x="127837" y="0"/>
                    </a:moveTo>
                    <a:lnTo>
                      <a:pt x="1289498" y="0"/>
                    </a:lnTo>
                    <a:cubicBezTo>
                      <a:pt x="1360100" y="0"/>
                      <a:pt x="1417334" y="57234"/>
                      <a:pt x="1417334" y="127837"/>
                    </a:cubicBezTo>
                    <a:lnTo>
                      <a:pt x="1417334" y="439844"/>
                    </a:lnTo>
                    <a:cubicBezTo>
                      <a:pt x="1417334" y="473749"/>
                      <a:pt x="1403866" y="506264"/>
                      <a:pt x="1379892" y="530238"/>
                    </a:cubicBezTo>
                    <a:cubicBezTo>
                      <a:pt x="1355918" y="554212"/>
                      <a:pt x="1323402" y="567681"/>
                      <a:pt x="1289498" y="567681"/>
                    </a:cubicBezTo>
                    <a:lnTo>
                      <a:pt x="127837" y="567681"/>
                    </a:lnTo>
                    <a:cubicBezTo>
                      <a:pt x="93932" y="567681"/>
                      <a:pt x="61417" y="554212"/>
                      <a:pt x="37443" y="530238"/>
                    </a:cubicBezTo>
                    <a:cubicBezTo>
                      <a:pt x="13468" y="506264"/>
                      <a:pt x="0" y="473749"/>
                      <a:pt x="0" y="439844"/>
                    </a:cubicBezTo>
                    <a:lnTo>
                      <a:pt x="0" y="127837"/>
                    </a:lnTo>
                    <a:cubicBezTo>
                      <a:pt x="0" y="93932"/>
                      <a:pt x="13468" y="61417"/>
                      <a:pt x="37443" y="37443"/>
                    </a:cubicBezTo>
                    <a:cubicBezTo>
                      <a:pt x="61417" y="13468"/>
                      <a:pt x="93932" y="0"/>
                      <a:pt x="127837" y="0"/>
                    </a:cubicBezTo>
                    <a:close/>
                  </a:path>
                </a:pathLst>
              </a:custGeom>
              <a:solidFill>
                <a:srgbClr val="06B6D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9525"/>
                <a:ext cx="1417334" cy="577206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918470" y="122906"/>
              <a:ext cx="1975932" cy="346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13"/>
                </a:lnSpc>
                <a:spcBef>
                  <a:spcPct val="0"/>
                </a:spcBef>
              </a:pPr>
              <a:r>
                <a:rPr lang="en-US" sz="150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CLIENTE SOC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0017" y="2259294"/>
              <a:ext cx="3152839" cy="843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3"/>
                </a:lnSpc>
                <a:spcBef>
                  <a:spcPct val="0"/>
                </a:spcBef>
              </a:pPr>
              <a:r>
                <a:rPr lang="en-US" sz="119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Permite al operador interactuar con todas las funcionalidades que ofrece la solución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48524" y="1629569"/>
              <a:ext cx="1297247" cy="270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144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DOCKER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464348" y="589709"/>
              <a:ext cx="884176" cy="874966"/>
            </a:xfrm>
            <a:custGeom>
              <a:avLst/>
              <a:gdLst/>
              <a:ahLst/>
              <a:cxnLst/>
              <a:rect l="l" t="t" r="r" b="b"/>
              <a:pathLst>
                <a:path w="884176" h="874966">
                  <a:moveTo>
                    <a:pt x="0" y="0"/>
                  </a:moveTo>
                  <a:lnTo>
                    <a:pt x="884176" y="0"/>
                  </a:lnTo>
                  <a:lnTo>
                    <a:pt x="884176" y="874966"/>
                  </a:lnTo>
                  <a:lnTo>
                    <a:pt x="0" y="874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4516649" y="3819717"/>
            <a:ext cx="2742651" cy="2675432"/>
            <a:chOff x="0" y="0"/>
            <a:chExt cx="3656868" cy="3567242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3656868" cy="3567241"/>
              <a:chOff x="0" y="0"/>
              <a:chExt cx="1417334" cy="138259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417334" cy="1382597"/>
              </a:xfrm>
              <a:custGeom>
                <a:avLst/>
                <a:gdLst/>
                <a:ahLst/>
                <a:cxnLst/>
                <a:rect l="l" t="t" r="r" b="b"/>
                <a:pathLst>
                  <a:path w="1417334" h="1382597">
                    <a:moveTo>
                      <a:pt x="127837" y="0"/>
                    </a:moveTo>
                    <a:lnTo>
                      <a:pt x="1289498" y="0"/>
                    </a:lnTo>
                    <a:cubicBezTo>
                      <a:pt x="1360100" y="0"/>
                      <a:pt x="1417334" y="57234"/>
                      <a:pt x="1417334" y="127837"/>
                    </a:cubicBezTo>
                    <a:lnTo>
                      <a:pt x="1417334" y="1254760"/>
                    </a:lnTo>
                    <a:cubicBezTo>
                      <a:pt x="1417334" y="1288664"/>
                      <a:pt x="1403866" y="1321180"/>
                      <a:pt x="1379892" y="1345154"/>
                    </a:cubicBezTo>
                    <a:cubicBezTo>
                      <a:pt x="1355918" y="1369128"/>
                      <a:pt x="1323402" y="1382597"/>
                      <a:pt x="1289498" y="1382597"/>
                    </a:cubicBezTo>
                    <a:lnTo>
                      <a:pt x="127837" y="1382597"/>
                    </a:lnTo>
                    <a:cubicBezTo>
                      <a:pt x="93932" y="1382597"/>
                      <a:pt x="61417" y="1369128"/>
                      <a:pt x="37443" y="1345154"/>
                    </a:cubicBezTo>
                    <a:cubicBezTo>
                      <a:pt x="13468" y="1321180"/>
                      <a:pt x="0" y="1288664"/>
                      <a:pt x="0" y="1254760"/>
                    </a:cubicBezTo>
                    <a:lnTo>
                      <a:pt x="0" y="127837"/>
                    </a:lnTo>
                    <a:cubicBezTo>
                      <a:pt x="0" y="93932"/>
                      <a:pt x="13468" y="61417"/>
                      <a:pt x="37443" y="37443"/>
                    </a:cubicBezTo>
                    <a:cubicBezTo>
                      <a:pt x="61417" y="13468"/>
                      <a:pt x="93932" y="0"/>
                      <a:pt x="127837" y="0"/>
                    </a:cubicBezTo>
                    <a:close/>
                  </a:path>
                </a:pathLst>
              </a:custGeom>
              <a:solidFill>
                <a:srgbClr val="1F3A8A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9525"/>
                <a:ext cx="1417334" cy="1392122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846205" y="120231"/>
              <a:ext cx="1975932" cy="346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13"/>
                </a:lnSpc>
                <a:spcBef>
                  <a:spcPct val="0"/>
                </a:spcBef>
              </a:pPr>
              <a:r>
                <a:rPr lang="en-US" sz="150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API SOC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1241004" y="699719"/>
              <a:ext cx="1083902" cy="1083902"/>
            </a:xfrm>
            <a:custGeom>
              <a:avLst/>
              <a:gdLst/>
              <a:ahLst/>
              <a:cxnLst/>
              <a:rect l="l" t="t" r="r" b="b"/>
              <a:pathLst>
                <a:path w="1083902" h="1083902">
                  <a:moveTo>
                    <a:pt x="0" y="0"/>
                  </a:moveTo>
                  <a:lnTo>
                    <a:pt x="1083902" y="0"/>
                  </a:lnTo>
                  <a:lnTo>
                    <a:pt x="1083902" y="1083902"/>
                  </a:lnTo>
                  <a:lnTo>
                    <a:pt x="0" y="1083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25" name="Group 25"/>
            <p:cNvGrpSpPr/>
            <p:nvPr/>
          </p:nvGrpSpPr>
          <p:grpSpPr>
            <a:xfrm>
              <a:off x="11474" y="1949844"/>
              <a:ext cx="3645393" cy="703716"/>
              <a:chOff x="0" y="0"/>
              <a:chExt cx="1412887" cy="2727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12887" cy="272747"/>
              </a:xfrm>
              <a:custGeom>
                <a:avLst/>
                <a:gdLst/>
                <a:ahLst/>
                <a:cxnLst/>
                <a:rect l="l" t="t" r="r" b="b"/>
                <a:pathLst>
                  <a:path w="1412887" h="272747">
                    <a:moveTo>
                      <a:pt x="0" y="0"/>
                    </a:moveTo>
                    <a:lnTo>
                      <a:pt x="1412887" y="0"/>
                    </a:lnTo>
                    <a:lnTo>
                      <a:pt x="1412887" y="272747"/>
                    </a:lnTo>
                    <a:lnTo>
                      <a:pt x="0" y="272747"/>
                    </a:lnTo>
                    <a:close/>
                  </a:path>
                </a:pathLst>
              </a:custGeom>
              <a:solidFill>
                <a:srgbClr val="06B6D4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9525"/>
                <a:ext cx="1412887" cy="282272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324906" y="1634731"/>
              <a:ext cx="1297247" cy="270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144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DOCKER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0" y="2077992"/>
              <a:ext cx="3656868" cy="1489250"/>
              <a:chOff x="0" y="-9525"/>
              <a:chExt cx="1417334" cy="57720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-1"/>
                <a:ext cx="1417334" cy="567681"/>
              </a:xfrm>
              <a:custGeom>
                <a:avLst/>
                <a:gdLst/>
                <a:ahLst/>
                <a:cxnLst/>
                <a:rect l="l" t="t" r="r" b="b"/>
                <a:pathLst>
                  <a:path w="1417334" h="567681">
                    <a:moveTo>
                      <a:pt x="127837" y="0"/>
                    </a:moveTo>
                    <a:lnTo>
                      <a:pt x="1289498" y="0"/>
                    </a:lnTo>
                    <a:cubicBezTo>
                      <a:pt x="1360100" y="0"/>
                      <a:pt x="1417334" y="57234"/>
                      <a:pt x="1417334" y="127837"/>
                    </a:cubicBezTo>
                    <a:lnTo>
                      <a:pt x="1417334" y="439844"/>
                    </a:lnTo>
                    <a:cubicBezTo>
                      <a:pt x="1417334" y="473749"/>
                      <a:pt x="1403866" y="506264"/>
                      <a:pt x="1379892" y="530238"/>
                    </a:cubicBezTo>
                    <a:cubicBezTo>
                      <a:pt x="1355918" y="554212"/>
                      <a:pt x="1323402" y="567681"/>
                      <a:pt x="1289498" y="567681"/>
                    </a:cubicBezTo>
                    <a:lnTo>
                      <a:pt x="127837" y="567681"/>
                    </a:lnTo>
                    <a:cubicBezTo>
                      <a:pt x="93932" y="567681"/>
                      <a:pt x="61417" y="554212"/>
                      <a:pt x="37443" y="530238"/>
                    </a:cubicBezTo>
                    <a:cubicBezTo>
                      <a:pt x="13468" y="506264"/>
                      <a:pt x="0" y="473749"/>
                      <a:pt x="0" y="439844"/>
                    </a:cubicBezTo>
                    <a:lnTo>
                      <a:pt x="0" y="127837"/>
                    </a:lnTo>
                    <a:cubicBezTo>
                      <a:pt x="0" y="93932"/>
                      <a:pt x="13468" y="61417"/>
                      <a:pt x="37443" y="37443"/>
                    </a:cubicBezTo>
                    <a:cubicBezTo>
                      <a:pt x="61417" y="13468"/>
                      <a:pt x="93932" y="0"/>
                      <a:pt x="127837" y="0"/>
                    </a:cubicBezTo>
                    <a:close/>
                  </a:path>
                </a:pathLst>
              </a:custGeom>
              <a:solidFill>
                <a:srgbClr val="06B6D4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9525"/>
                <a:ext cx="1417334" cy="577206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571859" y="2284549"/>
              <a:ext cx="2513148" cy="879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3"/>
                </a:lnSpc>
                <a:spcBef>
                  <a:spcPct val="0"/>
                </a:spcBef>
              </a:pPr>
              <a:r>
                <a:rPr lang="en-US" sz="1281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Gestiona</a:t>
              </a:r>
              <a:r>
                <a:rPr lang="en-US" sz="1281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la </a:t>
              </a:r>
              <a:r>
                <a:rPr lang="en-US" sz="1281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lógica</a:t>
              </a:r>
              <a:r>
                <a:rPr lang="en-US" sz="1281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principal de la </a:t>
              </a:r>
              <a:r>
                <a:rPr lang="en-US" sz="1281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plataforma</a:t>
              </a:r>
              <a:endParaRPr lang="en-US" sz="1281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530474" y="343372"/>
            <a:ext cx="2742651" cy="2675431"/>
            <a:chOff x="0" y="0"/>
            <a:chExt cx="3656868" cy="3567241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3656868" cy="3567241"/>
              <a:chOff x="0" y="0"/>
              <a:chExt cx="1417334" cy="138259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417334" cy="1382597"/>
              </a:xfrm>
              <a:custGeom>
                <a:avLst/>
                <a:gdLst/>
                <a:ahLst/>
                <a:cxnLst/>
                <a:rect l="l" t="t" r="r" b="b"/>
                <a:pathLst>
                  <a:path w="1417334" h="1382597">
                    <a:moveTo>
                      <a:pt x="127837" y="0"/>
                    </a:moveTo>
                    <a:lnTo>
                      <a:pt x="1289498" y="0"/>
                    </a:lnTo>
                    <a:cubicBezTo>
                      <a:pt x="1360100" y="0"/>
                      <a:pt x="1417334" y="57234"/>
                      <a:pt x="1417334" y="127837"/>
                    </a:cubicBezTo>
                    <a:lnTo>
                      <a:pt x="1417334" y="1254760"/>
                    </a:lnTo>
                    <a:cubicBezTo>
                      <a:pt x="1417334" y="1288664"/>
                      <a:pt x="1403866" y="1321180"/>
                      <a:pt x="1379892" y="1345154"/>
                    </a:cubicBezTo>
                    <a:cubicBezTo>
                      <a:pt x="1355918" y="1369128"/>
                      <a:pt x="1323402" y="1382597"/>
                      <a:pt x="1289498" y="1382597"/>
                    </a:cubicBezTo>
                    <a:lnTo>
                      <a:pt x="127837" y="1382597"/>
                    </a:lnTo>
                    <a:cubicBezTo>
                      <a:pt x="93932" y="1382597"/>
                      <a:pt x="61417" y="1369128"/>
                      <a:pt x="37443" y="1345154"/>
                    </a:cubicBezTo>
                    <a:cubicBezTo>
                      <a:pt x="13468" y="1321180"/>
                      <a:pt x="0" y="1288664"/>
                      <a:pt x="0" y="1254760"/>
                    </a:cubicBezTo>
                    <a:lnTo>
                      <a:pt x="0" y="127837"/>
                    </a:lnTo>
                    <a:cubicBezTo>
                      <a:pt x="0" y="93932"/>
                      <a:pt x="13468" y="61417"/>
                      <a:pt x="37443" y="37443"/>
                    </a:cubicBezTo>
                    <a:cubicBezTo>
                      <a:pt x="61417" y="13468"/>
                      <a:pt x="93932" y="0"/>
                      <a:pt x="127837" y="0"/>
                    </a:cubicBezTo>
                    <a:close/>
                  </a:path>
                </a:pathLst>
              </a:custGeom>
              <a:solidFill>
                <a:srgbClr val="1F3A8A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9525"/>
                <a:ext cx="1417334" cy="1392122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630497" y="83132"/>
              <a:ext cx="2341528" cy="346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13"/>
                </a:lnSpc>
                <a:spcBef>
                  <a:spcPct val="0"/>
                </a:spcBef>
              </a:pPr>
              <a:r>
                <a:rPr lang="en-US" sz="150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BASE DE DATOS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11474" y="1949844"/>
              <a:ext cx="3645393" cy="703716"/>
              <a:chOff x="0" y="0"/>
              <a:chExt cx="1412887" cy="27274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412887" cy="272747"/>
              </a:xfrm>
              <a:custGeom>
                <a:avLst/>
                <a:gdLst/>
                <a:ahLst/>
                <a:cxnLst/>
                <a:rect l="l" t="t" r="r" b="b"/>
                <a:pathLst>
                  <a:path w="1412887" h="272747">
                    <a:moveTo>
                      <a:pt x="0" y="0"/>
                    </a:moveTo>
                    <a:lnTo>
                      <a:pt x="1412887" y="0"/>
                    </a:lnTo>
                    <a:lnTo>
                      <a:pt x="1412887" y="272747"/>
                    </a:lnTo>
                    <a:lnTo>
                      <a:pt x="0" y="272747"/>
                    </a:lnTo>
                    <a:close/>
                  </a:path>
                </a:pathLst>
              </a:custGeom>
              <a:solidFill>
                <a:srgbClr val="06B6D4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9525"/>
                <a:ext cx="1412887" cy="282272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2359621" y="1629569"/>
              <a:ext cx="1297247" cy="270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144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DOCKER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0" y="2102567"/>
              <a:ext cx="3656868" cy="1464675"/>
              <a:chOff x="0" y="0"/>
              <a:chExt cx="1417334" cy="567681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417334" cy="567681"/>
              </a:xfrm>
              <a:custGeom>
                <a:avLst/>
                <a:gdLst/>
                <a:ahLst/>
                <a:cxnLst/>
                <a:rect l="l" t="t" r="r" b="b"/>
                <a:pathLst>
                  <a:path w="1417334" h="567681">
                    <a:moveTo>
                      <a:pt x="127837" y="0"/>
                    </a:moveTo>
                    <a:lnTo>
                      <a:pt x="1289498" y="0"/>
                    </a:lnTo>
                    <a:cubicBezTo>
                      <a:pt x="1360100" y="0"/>
                      <a:pt x="1417334" y="57234"/>
                      <a:pt x="1417334" y="127837"/>
                    </a:cubicBezTo>
                    <a:lnTo>
                      <a:pt x="1417334" y="439844"/>
                    </a:lnTo>
                    <a:cubicBezTo>
                      <a:pt x="1417334" y="473749"/>
                      <a:pt x="1403866" y="506264"/>
                      <a:pt x="1379892" y="530238"/>
                    </a:cubicBezTo>
                    <a:cubicBezTo>
                      <a:pt x="1355918" y="554212"/>
                      <a:pt x="1323402" y="567681"/>
                      <a:pt x="1289498" y="567681"/>
                    </a:cubicBezTo>
                    <a:lnTo>
                      <a:pt x="127837" y="567681"/>
                    </a:lnTo>
                    <a:cubicBezTo>
                      <a:pt x="93932" y="567681"/>
                      <a:pt x="61417" y="554212"/>
                      <a:pt x="37443" y="530238"/>
                    </a:cubicBezTo>
                    <a:cubicBezTo>
                      <a:pt x="13468" y="506264"/>
                      <a:pt x="0" y="473749"/>
                      <a:pt x="0" y="439844"/>
                    </a:cubicBezTo>
                    <a:lnTo>
                      <a:pt x="0" y="127837"/>
                    </a:lnTo>
                    <a:cubicBezTo>
                      <a:pt x="0" y="93932"/>
                      <a:pt x="13468" y="61417"/>
                      <a:pt x="37443" y="37443"/>
                    </a:cubicBezTo>
                    <a:cubicBezTo>
                      <a:pt x="61417" y="13468"/>
                      <a:pt x="93932" y="0"/>
                      <a:pt x="127837" y="0"/>
                    </a:cubicBezTo>
                    <a:close/>
                  </a:path>
                </a:pathLst>
              </a:custGeom>
              <a:solidFill>
                <a:srgbClr val="06B6D4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9525"/>
                <a:ext cx="1417334" cy="577206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116693" y="2439238"/>
              <a:ext cx="3486590" cy="879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3"/>
                </a:lnSpc>
                <a:spcBef>
                  <a:spcPct val="0"/>
                </a:spcBef>
              </a:pPr>
              <a:r>
                <a:rPr lang="en-US" sz="128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Almacena los datos necesarios para el funcionamiento del sistema.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1326390" y="673521"/>
              <a:ext cx="949743" cy="949743"/>
            </a:xfrm>
            <a:custGeom>
              <a:avLst/>
              <a:gdLst/>
              <a:ahLst/>
              <a:cxnLst/>
              <a:rect l="l" t="t" r="r" b="b"/>
              <a:pathLst>
                <a:path w="949743" h="949743">
                  <a:moveTo>
                    <a:pt x="0" y="0"/>
                  </a:moveTo>
                  <a:lnTo>
                    <a:pt x="949743" y="0"/>
                  </a:lnTo>
                  <a:lnTo>
                    <a:pt x="949743" y="949743"/>
                  </a:lnTo>
                  <a:lnTo>
                    <a:pt x="0" y="949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0530474" y="7296063"/>
            <a:ext cx="2742651" cy="2675431"/>
            <a:chOff x="0" y="0"/>
            <a:chExt cx="3656868" cy="3567241"/>
          </a:xfrm>
        </p:grpSpPr>
        <p:grpSp>
          <p:nvGrpSpPr>
            <p:cNvPr id="48" name="Group 48"/>
            <p:cNvGrpSpPr/>
            <p:nvPr/>
          </p:nvGrpSpPr>
          <p:grpSpPr>
            <a:xfrm>
              <a:off x="0" y="0"/>
              <a:ext cx="3656868" cy="3567241"/>
              <a:chOff x="0" y="0"/>
              <a:chExt cx="1417334" cy="1382597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417334" cy="1382597"/>
              </a:xfrm>
              <a:custGeom>
                <a:avLst/>
                <a:gdLst/>
                <a:ahLst/>
                <a:cxnLst/>
                <a:rect l="l" t="t" r="r" b="b"/>
                <a:pathLst>
                  <a:path w="1417334" h="1382597">
                    <a:moveTo>
                      <a:pt x="127837" y="0"/>
                    </a:moveTo>
                    <a:lnTo>
                      <a:pt x="1289498" y="0"/>
                    </a:lnTo>
                    <a:cubicBezTo>
                      <a:pt x="1360100" y="0"/>
                      <a:pt x="1417334" y="57234"/>
                      <a:pt x="1417334" y="127837"/>
                    </a:cubicBezTo>
                    <a:lnTo>
                      <a:pt x="1417334" y="1254760"/>
                    </a:lnTo>
                    <a:cubicBezTo>
                      <a:pt x="1417334" y="1288664"/>
                      <a:pt x="1403866" y="1321180"/>
                      <a:pt x="1379892" y="1345154"/>
                    </a:cubicBezTo>
                    <a:cubicBezTo>
                      <a:pt x="1355918" y="1369128"/>
                      <a:pt x="1323402" y="1382597"/>
                      <a:pt x="1289498" y="1382597"/>
                    </a:cubicBezTo>
                    <a:lnTo>
                      <a:pt x="127837" y="1382597"/>
                    </a:lnTo>
                    <a:cubicBezTo>
                      <a:pt x="93932" y="1382597"/>
                      <a:pt x="61417" y="1369128"/>
                      <a:pt x="37443" y="1345154"/>
                    </a:cubicBezTo>
                    <a:cubicBezTo>
                      <a:pt x="13468" y="1321180"/>
                      <a:pt x="0" y="1288664"/>
                      <a:pt x="0" y="1254760"/>
                    </a:cubicBezTo>
                    <a:lnTo>
                      <a:pt x="0" y="127837"/>
                    </a:lnTo>
                    <a:cubicBezTo>
                      <a:pt x="0" y="93932"/>
                      <a:pt x="13468" y="61417"/>
                      <a:pt x="37443" y="37443"/>
                    </a:cubicBezTo>
                    <a:cubicBezTo>
                      <a:pt x="61417" y="13468"/>
                      <a:pt x="93932" y="0"/>
                      <a:pt x="127837" y="0"/>
                    </a:cubicBezTo>
                    <a:close/>
                  </a:path>
                </a:pathLst>
              </a:custGeom>
              <a:solidFill>
                <a:srgbClr val="1F3A8A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9525"/>
                <a:ext cx="1417334" cy="1392122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296371" y="157754"/>
              <a:ext cx="3092470" cy="346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13"/>
                </a:lnSpc>
                <a:spcBef>
                  <a:spcPct val="0"/>
                </a:spcBef>
              </a:pPr>
              <a:r>
                <a:rPr lang="en-US" sz="150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SIMULADOR ALERTAS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1474" y="1949844"/>
              <a:ext cx="3645393" cy="703716"/>
              <a:chOff x="0" y="0"/>
              <a:chExt cx="1412887" cy="272747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412887" cy="272747"/>
              </a:xfrm>
              <a:custGeom>
                <a:avLst/>
                <a:gdLst/>
                <a:ahLst/>
                <a:cxnLst/>
                <a:rect l="l" t="t" r="r" b="b"/>
                <a:pathLst>
                  <a:path w="1412887" h="272747">
                    <a:moveTo>
                      <a:pt x="0" y="0"/>
                    </a:moveTo>
                    <a:lnTo>
                      <a:pt x="1412887" y="0"/>
                    </a:lnTo>
                    <a:lnTo>
                      <a:pt x="1412887" y="272747"/>
                    </a:lnTo>
                    <a:lnTo>
                      <a:pt x="0" y="272747"/>
                    </a:lnTo>
                    <a:close/>
                  </a:path>
                </a:pathLst>
              </a:custGeom>
              <a:solidFill>
                <a:srgbClr val="06B6D4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9525"/>
                <a:ext cx="1412887" cy="282272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2359621" y="1629569"/>
              <a:ext cx="1297247" cy="270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144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DOCKER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0" y="2102567"/>
              <a:ext cx="3656868" cy="1464675"/>
              <a:chOff x="0" y="0"/>
              <a:chExt cx="1417334" cy="56768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1417334" cy="567681"/>
              </a:xfrm>
              <a:custGeom>
                <a:avLst/>
                <a:gdLst/>
                <a:ahLst/>
                <a:cxnLst/>
                <a:rect l="l" t="t" r="r" b="b"/>
                <a:pathLst>
                  <a:path w="1417334" h="567681">
                    <a:moveTo>
                      <a:pt x="127837" y="0"/>
                    </a:moveTo>
                    <a:lnTo>
                      <a:pt x="1289498" y="0"/>
                    </a:lnTo>
                    <a:cubicBezTo>
                      <a:pt x="1360100" y="0"/>
                      <a:pt x="1417334" y="57234"/>
                      <a:pt x="1417334" y="127837"/>
                    </a:cubicBezTo>
                    <a:lnTo>
                      <a:pt x="1417334" y="439844"/>
                    </a:lnTo>
                    <a:cubicBezTo>
                      <a:pt x="1417334" y="473749"/>
                      <a:pt x="1403866" y="506264"/>
                      <a:pt x="1379892" y="530238"/>
                    </a:cubicBezTo>
                    <a:cubicBezTo>
                      <a:pt x="1355918" y="554212"/>
                      <a:pt x="1323402" y="567681"/>
                      <a:pt x="1289498" y="567681"/>
                    </a:cubicBezTo>
                    <a:lnTo>
                      <a:pt x="127837" y="567681"/>
                    </a:lnTo>
                    <a:cubicBezTo>
                      <a:pt x="93932" y="567681"/>
                      <a:pt x="61417" y="554212"/>
                      <a:pt x="37443" y="530238"/>
                    </a:cubicBezTo>
                    <a:cubicBezTo>
                      <a:pt x="13468" y="506264"/>
                      <a:pt x="0" y="473749"/>
                      <a:pt x="0" y="439844"/>
                    </a:cubicBezTo>
                    <a:lnTo>
                      <a:pt x="0" y="127837"/>
                    </a:lnTo>
                    <a:cubicBezTo>
                      <a:pt x="0" y="93932"/>
                      <a:pt x="13468" y="61417"/>
                      <a:pt x="37443" y="37443"/>
                    </a:cubicBezTo>
                    <a:cubicBezTo>
                      <a:pt x="61417" y="13468"/>
                      <a:pt x="93932" y="0"/>
                      <a:pt x="127837" y="0"/>
                    </a:cubicBezTo>
                    <a:close/>
                  </a:path>
                </a:pathLst>
              </a:custGeom>
              <a:solidFill>
                <a:srgbClr val="06B6D4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0" y="-9525"/>
                <a:ext cx="1417334" cy="577206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99311" y="2353680"/>
              <a:ext cx="3486590" cy="584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3"/>
                </a:lnSpc>
                <a:spcBef>
                  <a:spcPct val="0"/>
                </a:spcBef>
              </a:pPr>
              <a:r>
                <a:rPr lang="en-US" sz="128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Creación de alertas de seguridad simuladas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1346675" y="706939"/>
              <a:ext cx="1025901" cy="975239"/>
            </a:xfrm>
            <a:custGeom>
              <a:avLst/>
              <a:gdLst/>
              <a:ahLst/>
              <a:cxnLst/>
              <a:rect l="l" t="t" r="r" b="b"/>
              <a:pathLst>
                <a:path w="1025901" h="975239">
                  <a:moveTo>
                    <a:pt x="0" y="0"/>
                  </a:moveTo>
                  <a:lnTo>
                    <a:pt x="1025901" y="0"/>
                  </a:lnTo>
                  <a:lnTo>
                    <a:pt x="1025901" y="975239"/>
                  </a:lnTo>
                  <a:lnTo>
                    <a:pt x="0" y="975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6540048" y="3819717"/>
            <a:ext cx="2742651" cy="2675431"/>
            <a:chOff x="0" y="0"/>
            <a:chExt cx="3656868" cy="3567241"/>
          </a:xfrm>
        </p:grpSpPr>
        <p:grpSp>
          <p:nvGrpSpPr>
            <p:cNvPr id="62" name="Group 62"/>
            <p:cNvGrpSpPr/>
            <p:nvPr/>
          </p:nvGrpSpPr>
          <p:grpSpPr>
            <a:xfrm>
              <a:off x="0" y="0"/>
              <a:ext cx="3656868" cy="3567241"/>
              <a:chOff x="0" y="0"/>
              <a:chExt cx="1417334" cy="1382597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1417334" cy="1382597"/>
              </a:xfrm>
              <a:custGeom>
                <a:avLst/>
                <a:gdLst/>
                <a:ahLst/>
                <a:cxnLst/>
                <a:rect l="l" t="t" r="r" b="b"/>
                <a:pathLst>
                  <a:path w="1417334" h="1382597">
                    <a:moveTo>
                      <a:pt x="127837" y="0"/>
                    </a:moveTo>
                    <a:lnTo>
                      <a:pt x="1289498" y="0"/>
                    </a:lnTo>
                    <a:cubicBezTo>
                      <a:pt x="1360100" y="0"/>
                      <a:pt x="1417334" y="57234"/>
                      <a:pt x="1417334" y="127837"/>
                    </a:cubicBezTo>
                    <a:lnTo>
                      <a:pt x="1417334" y="1254760"/>
                    </a:lnTo>
                    <a:cubicBezTo>
                      <a:pt x="1417334" y="1288664"/>
                      <a:pt x="1403866" y="1321180"/>
                      <a:pt x="1379892" y="1345154"/>
                    </a:cubicBezTo>
                    <a:cubicBezTo>
                      <a:pt x="1355918" y="1369128"/>
                      <a:pt x="1323402" y="1382597"/>
                      <a:pt x="1289498" y="1382597"/>
                    </a:cubicBezTo>
                    <a:lnTo>
                      <a:pt x="127837" y="1382597"/>
                    </a:lnTo>
                    <a:cubicBezTo>
                      <a:pt x="93932" y="1382597"/>
                      <a:pt x="61417" y="1369128"/>
                      <a:pt x="37443" y="1345154"/>
                    </a:cubicBezTo>
                    <a:cubicBezTo>
                      <a:pt x="13468" y="1321180"/>
                      <a:pt x="0" y="1288664"/>
                      <a:pt x="0" y="1254760"/>
                    </a:cubicBezTo>
                    <a:lnTo>
                      <a:pt x="0" y="127837"/>
                    </a:lnTo>
                    <a:cubicBezTo>
                      <a:pt x="0" y="93932"/>
                      <a:pt x="13468" y="61417"/>
                      <a:pt x="37443" y="37443"/>
                    </a:cubicBezTo>
                    <a:cubicBezTo>
                      <a:pt x="61417" y="13468"/>
                      <a:pt x="93932" y="0"/>
                      <a:pt x="127837" y="0"/>
                    </a:cubicBezTo>
                    <a:close/>
                  </a:path>
                </a:pathLst>
              </a:custGeom>
              <a:solidFill>
                <a:srgbClr val="1F3A8A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0" y="-9525"/>
                <a:ext cx="1417334" cy="1392122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296371" y="157754"/>
              <a:ext cx="3092470" cy="346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13"/>
                </a:lnSpc>
                <a:spcBef>
                  <a:spcPct val="0"/>
                </a:spcBef>
              </a:pPr>
              <a:r>
                <a:rPr lang="en-US" sz="150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API IA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11474" y="1949844"/>
              <a:ext cx="3645393" cy="703716"/>
              <a:chOff x="0" y="0"/>
              <a:chExt cx="1412887" cy="272747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1412887" cy="272747"/>
              </a:xfrm>
              <a:custGeom>
                <a:avLst/>
                <a:gdLst/>
                <a:ahLst/>
                <a:cxnLst/>
                <a:rect l="l" t="t" r="r" b="b"/>
                <a:pathLst>
                  <a:path w="1412887" h="272747">
                    <a:moveTo>
                      <a:pt x="0" y="0"/>
                    </a:moveTo>
                    <a:lnTo>
                      <a:pt x="1412887" y="0"/>
                    </a:lnTo>
                    <a:lnTo>
                      <a:pt x="1412887" y="272747"/>
                    </a:lnTo>
                    <a:lnTo>
                      <a:pt x="0" y="272747"/>
                    </a:lnTo>
                    <a:close/>
                  </a:path>
                </a:pathLst>
              </a:custGeom>
              <a:solidFill>
                <a:srgbClr val="06B6D4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0" y="-9525"/>
                <a:ext cx="1412887" cy="282272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</a:pPr>
                <a:endParaRPr/>
              </a:p>
            </p:txBody>
          </p:sp>
        </p:grpSp>
        <p:sp>
          <p:nvSpPr>
            <p:cNvPr id="69" name="TextBox 69"/>
            <p:cNvSpPr txBox="1"/>
            <p:nvPr/>
          </p:nvSpPr>
          <p:spPr>
            <a:xfrm>
              <a:off x="2359621" y="1629569"/>
              <a:ext cx="1297247" cy="270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144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DOCKER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0" y="2102567"/>
              <a:ext cx="3656868" cy="1464675"/>
              <a:chOff x="0" y="0"/>
              <a:chExt cx="1417334" cy="567681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1417334" cy="567681"/>
              </a:xfrm>
              <a:custGeom>
                <a:avLst/>
                <a:gdLst/>
                <a:ahLst/>
                <a:cxnLst/>
                <a:rect l="l" t="t" r="r" b="b"/>
                <a:pathLst>
                  <a:path w="1417334" h="567681">
                    <a:moveTo>
                      <a:pt x="127837" y="0"/>
                    </a:moveTo>
                    <a:lnTo>
                      <a:pt x="1289498" y="0"/>
                    </a:lnTo>
                    <a:cubicBezTo>
                      <a:pt x="1360100" y="0"/>
                      <a:pt x="1417334" y="57234"/>
                      <a:pt x="1417334" y="127837"/>
                    </a:cubicBezTo>
                    <a:lnTo>
                      <a:pt x="1417334" y="439844"/>
                    </a:lnTo>
                    <a:cubicBezTo>
                      <a:pt x="1417334" y="473749"/>
                      <a:pt x="1403866" y="506264"/>
                      <a:pt x="1379892" y="530238"/>
                    </a:cubicBezTo>
                    <a:cubicBezTo>
                      <a:pt x="1355918" y="554212"/>
                      <a:pt x="1323402" y="567681"/>
                      <a:pt x="1289498" y="567681"/>
                    </a:cubicBezTo>
                    <a:lnTo>
                      <a:pt x="127837" y="567681"/>
                    </a:lnTo>
                    <a:cubicBezTo>
                      <a:pt x="93932" y="567681"/>
                      <a:pt x="61417" y="554212"/>
                      <a:pt x="37443" y="530238"/>
                    </a:cubicBezTo>
                    <a:cubicBezTo>
                      <a:pt x="13468" y="506264"/>
                      <a:pt x="0" y="473749"/>
                      <a:pt x="0" y="439844"/>
                    </a:cubicBezTo>
                    <a:lnTo>
                      <a:pt x="0" y="127837"/>
                    </a:lnTo>
                    <a:cubicBezTo>
                      <a:pt x="0" y="93932"/>
                      <a:pt x="13468" y="61417"/>
                      <a:pt x="37443" y="37443"/>
                    </a:cubicBezTo>
                    <a:cubicBezTo>
                      <a:pt x="61417" y="13468"/>
                      <a:pt x="93932" y="0"/>
                      <a:pt x="127837" y="0"/>
                    </a:cubicBezTo>
                    <a:close/>
                  </a:path>
                </a:pathLst>
              </a:custGeom>
              <a:solidFill>
                <a:srgbClr val="06B6D4"/>
              </a:solidFill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0" y="-9525"/>
                <a:ext cx="1417334" cy="577206"/>
              </a:xfrm>
              <a:prstGeom prst="rect">
                <a:avLst/>
              </a:prstGeom>
            </p:spPr>
            <p:txBody>
              <a:bodyPr lIns="28861" tIns="28861" rIns="28861" bIns="28861" rtlCol="0" anchor="ctr"/>
              <a:lstStyle/>
              <a:p>
                <a:pPr algn="ctr">
                  <a:lnSpc>
                    <a:spcPts val="1198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3" name="TextBox 73"/>
            <p:cNvSpPr txBox="1"/>
            <p:nvPr/>
          </p:nvSpPr>
          <p:spPr>
            <a:xfrm>
              <a:off x="85139" y="1985524"/>
              <a:ext cx="3486590" cy="14692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3"/>
                </a:lnSpc>
                <a:spcBef>
                  <a:spcPct val="0"/>
                </a:spcBef>
              </a:pPr>
              <a:r>
                <a:rPr lang="en-US" sz="128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Gestiona versiones del modelo de IA, permite su reentrenamiento y mantiene un histórico de versiones y datos de entrenamiento.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1396997" y="673106"/>
              <a:ext cx="962624" cy="962624"/>
            </a:xfrm>
            <a:custGeom>
              <a:avLst/>
              <a:gdLst/>
              <a:ahLst/>
              <a:cxnLst/>
              <a:rect l="l" t="t" r="r" b="b"/>
              <a:pathLst>
                <a:path w="962624" h="962624">
                  <a:moveTo>
                    <a:pt x="0" y="0"/>
                  </a:moveTo>
                  <a:lnTo>
                    <a:pt x="962624" y="0"/>
                  </a:lnTo>
                  <a:lnTo>
                    <a:pt x="962624" y="962624"/>
                  </a:lnTo>
                  <a:lnTo>
                    <a:pt x="0" y="962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10530474" y="3785247"/>
            <a:ext cx="2742651" cy="2744373"/>
            <a:chOff x="0" y="0"/>
            <a:chExt cx="3656868" cy="3659163"/>
          </a:xfrm>
        </p:grpSpPr>
        <p:grpSp>
          <p:nvGrpSpPr>
            <p:cNvPr id="76" name="Group 76"/>
            <p:cNvGrpSpPr/>
            <p:nvPr/>
          </p:nvGrpSpPr>
          <p:grpSpPr>
            <a:xfrm>
              <a:off x="0" y="0"/>
              <a:ext cx="3656868" cy="3632741"/>
              <a:chOff x="0" y="0"/>
              <a:chExt cx="1417334" cy="140798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1417334" cy="1407983"/>
              </a:xfrm>
              <a:custGeom>
                <a:avLst/>
                <a:gdLst/>
                <a:ahLst/>
                <a:cxnLst/>
                <a:rect l="l" t="t" r="r" b="b"/>
                <a:pathLst>
                  <a:path w="1417334" h="1407983">
                    <a:moveTo>
                      <a:pt x="115278" y="0"/>
                    </a:moveTo>
                    <a:lnTo>
                      <a:pt x="1302057" y="0"/>
                    </a:lnTo>
                    <a:cubicBezTo>
                      <a:pt x="1365723" y="0"/>
                      <a:pt x="1417334" y="51612"/>
                      <a:pt x="1417334" y="115278"/>
                    </a:cubicBezTo>
                    <a:lnTo>
                      <a:pt x="1417334" y="1292706"/>
                    </a:lnTo>
                    <a:cubicBezTo>
                      <a:pt x="1417334" y="1356372"/>
                      <a:pt x="1365723" y="1407983"/>
                      <a:pt x="1302057" y="1407983"/>
                    </a:cubicBezTo>
                    <a:lnTo>
                      <a:pt x="115278" y="1407983"/>
                    </a:lnTo>
                    <a:cubicBezTo>
                      <a:pt x="51612" y="1407983"/>
                      <a:pt x="0" y="1356372"/>
                      <a:pt x="0" y="1292706"/>
                    </a:cubicBezTo>
                    <a:lnTo>
                      <a:pt x="0" y="115278"/>
                    </a:lnTo>
                    <a:cubicBezTo>
                      <a:pt x="0" y="51612"/>
                      <a:pt x="51612" y="0"/>
                      <a:pt x="115278" y="0"/>
                    </a:cubicBezTo>
                    <a:close/>
                  </a:path>
                </a:pathLst>
              </a:custGeom>
              <a:solidFill>
                <a:srgbClr val="1F3A8A"/>
              </a:solidFill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0" y="-9525"/>
                <a:ext cx="1417334" cy="1417508"/>
              </a:xfrm>
              <a:prstGeom prst="rect">
                <a:avLst/>
              </a:prstGeom>
            </p:spPr>
            <p:txBody>
              <a:bodyPr lIns="32006" tIns="32006" rIns="32006" bIns="32006" rtlCol="0" anchor="ctr"/>
              <a:lstStyle/>
              <a:p>
                <a:pPr algn="ctr">
                  <a:lnSpc>
                    <a:spcPts val="1198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9" name="TextBox 79"/>
            <p:cNvSpPr txBox="1"/>
            <p:nvPr/>
          </p:nvSpPr>
          <p:spPr>
            <a:xfrm>
              <a:off x="630497" y="83132"/>
              <a:ext cx="2341528" cy="346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13"/>
                </a:lnSpc>
                <a:spcBef>
                  <a:spcPct val="0"/>
                </a:spcBef>
              </a:pPr>
              <a:r>
                <a:rPr lang="en-US" sz="150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N8N</a:t>
              </a:r>
            </a:p>
          </p:txBody>
        </p:sp>
        <p:grpSp>
          <p:nvGrpSpPr>
            <p:cNvPr id="80" name="Group 80"/>
            <p:cNvGrpSpPr/>
            <p:nvPr/>
          </p:nvGrpSpPr>
          <p:grpSpPr>
            <a:xfrm>
              <a:off x="0" y="1949844"/>
              <a:ext cx="3656868" cy="703716"/>
              <a:chOff x="0" y="0"/>
              <a:chExt cx="1417334" cy="272747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1417334" cy="272747"/>
              </a:xfrm>
              <a:custGeom>
                <a:avLst/>
                <a:gdLst/>
                <a:ahLst/>
                <a:cxnLst/>
                <a:rect l="l" t="t" r="r" b="b"/>
                <a:pathLst>
                  <a:path w="1417334" h="272747">
                    <a:moveTo>
                      <a:pt x="0" y="0"/>
                    </a:moveTo>
                    <a:lnTo>
                      <a:pt x="1417334" y="0"/>
                    </a:lnTo>
                    <a:lnTo>
                      <a:pt x="1417334" y="272747"/>
                    </a:lnTo>
                    <a:lnTo>
                      <a:pt x="0" y="272747"/>
                    </a:lnTo>
                    <a:close/>
                  </a:path>
                </a:pathLst>
              </a:custGeom>
              <a:solidFill>
                <a:srgbClr val="06B6D4"/>
              </a:solidFill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0" y="-9525"/>
                <a:ext cx="1417334" cy="282272"/>
              </a:xfrm>
              <a:prstGeom prst="rect">
                <a:avLst/>
              </a:prstGeom>
            </p:spPr>
            <p:txBody>
              <a:bodyPr lIns="32006" tIns="32006" rIns="32006" bIns="32006" rtlCol="0" anchor="ctr"/>
              <a:lstStyle/>
              <a:p>
                <a:pPr algn="ctr">
                  <a:lnSpc>
                    <a:spcPts val="1198"/>
                  </a:lnSpc>
                </a:pPr>
                <a:endParaRPr/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2359621" y="1629569"/>
              <a:ext cx="1297247" cy="270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144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DOCKER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0" y="2194489"/>
              <a:ext cx="3654450" cy="1464675"/>
              <a:chOff x="0" y="0"/>
              <a:chExt cx="1416397" cy="567681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1416397" cy="567681"/>
              </a:xfrm>
              <a:custGeom>
                <a:avLst/>
                <a:gdLst/>
                <a:ahLst/>
                <a:cxnLst/>
                <a:rect l="l" t="t" r="r" b="b"/>
                <a:pathLst>
                  <a:path w="1416397" h="567681">
                    <a:moveTo>
                      <a:pt x="115354" y="0"/>
                    </a:moveTo>
                    <a:lnTo>
                      <a:pt x="1301043" y="0"/>
                    </a:lnTo>
                    <a:cubicBezTo>
                      <a:pt x="1364751" y="0"/>
                      <a:pt x="1416397" y="51646"/>
                      <a:pt x="1416397" y="115354"/>
                    </a:cubicBezTo>
                    <a:lnTo>
                      <a:pt x="1416397" y="452327"/>
                    </a:lnTo>
                    <a:cubicBezTo>
                      <a:pt x="1416397" y="516035"/>
                      <a:pt x="1364751" y="567681"/>
                      <a:pt x="1301043" y="567681"/>
                    </a:cubicBezTo>
                    <a:lnTo>
                      <a:pt x="115354" y="567681"/>
                    </a:lnTo>
                    <a:cubicBezTo>
                      <a:pt x="51646" y="567681"/>
                      <a:pt x="0" y="516035"/>
                      <a:pt x="0" y="452327"/>
                    </a:cubicBezTo>
                    <a:lnTo>
                      <a:pt x="0" y="115354"/>
                    </a:lnTo>
                    <a:cubicBezTo>
                      <a:pt x="0" y="51646"/>
                      <a:pt x="51646" y="0"/>
                      <a:pt x="115354" y="0"/>
                    </a:cubicBezTo>
                    <a:close/>
                  </a:path>
                </a:pathLst>
              </a:custGeom>
              <a:solidFill>
                <a:srgbClr val="06B6D4"/>
              </a:solidFill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0" y="-9525"/>
                <a:ext cx="1416397" cy="577206"/>
              </a:xfrm>
              <a:prstGeom prst="rect">
                <a:avLst/>
              </a:prstGeom>
            </p:spPr>
            <p:txBody>
              <a:bodyPr lIns="32006" tIns="32006" rIns="32006" bIns="32006" rtlCol="0" anchor="ctr"/>
              <a:lstStyle/>
              <a:p>
                <a:pPr algn="ctr">
                  <a:lnSpc>
                    <a:spcPts val="1198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7" name="Freeform 87"/>
            <p:cNvSpPr/>
            <p:nvPr/>
          </p:nvSpPr>
          <p:spPr>
            <a:xfrm>
              <a:off x="1326390" y="673521"/>
              <a:ext cx="949743" cy="949743"/>
            </a:xfrm>
            <a:custGeom>
              <a:avLst/>
              <a:gdLst/>
              <a:ahLst/>
              <a:cxnLst/>
              <a:rect l="l" t="t" r="r" b="b"/>
              <a:pathLst>
                <a:path w="949743" h="949743">
                  <a:moveTo>
                    <a:pt x="0" y="0"/>
                  </a:moveTo>
                  <a:lnTo>
                    <a:pt x="949743" y="0"/>
                  </a:lnTo>
                  <a:lnTo>
                    <a:pt x="949743" y="949743"/>
                  </a:lnTo>
                  <a:lnTo>
                    <a:pt x="0" y="949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72599" y="2024185"/>
              <a:ext cx="3511671" cy="1469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3"/>
                </a:lnSpc>
                <a:spcBef>
                  <a:spcPct val="0"/>
                </a:spcBef>
              </a:pPr>
              <a:r>
                <a:rPr lang="en-US" sz="128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Orquesta los flujos del SOC     para gestionar alertas, operar el modelo de IA, consultar históricos, entrenar y ejecutar jobs.</a:t>
              </a:r>
            </a:p>
          </p:txBody>
        </p:sp>
      </p:grpSp>
      <p:sp>
        <p:nvSpPr>
          <p:cNvPr id="89" name="AutoShape 89"/>
          <p:cNvSpPr/>
          <p:nvPr/>
        </p:nvSpPr>
        <p:spPr>
          <a:xfrm flipH="1">
            <a:off x="13515289" y="5176483"/>
            <a:ext cx="75919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90" name="AutoShape 90"/>
          <p:cNvSpPr/>
          <p:nvPr/>
        </p:nvSpPr>
        <p:spPr>
          <a:xfrm flipH="1">
            <a:off x="9526988" y="5195533"/>
            <a:ext cx="75919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91" name="AutoShape 91"/>
          <p:cNvSpPr/>
          <p:nvPr/>
        </p:nvSpPr>
        <p:spPr>
          <a:xfrm flipV="1">
            <a:off x="11920850" y="6680017"/>
            <a:ext cx="0" cy="46564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92" name="AutoShape 92"/>
          <p:cNvSpPr/>
          <p:nvPr/>
        </p:nvSpPr>
        <p:spPr>
          <a:xfrm flipV="1">
            <a:off x="11882750" y="3169201"/>
            <a:ext cx="0" cy="46564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93" name="AutoShape 93"/>
          <p:cNvSpPr/>
          <p:nvPr/>
        </p:nvSpPr>
        <p:spPr>
          <a:xfrm flipV="1">
            <a:off x="15907025" y="6662781"/>
            <a:ext cx="0" cy="46564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94" name="AutoShape 94"/>
          <p:cNvSpPr/>
          <p:nvPr/>
        </p:nvSpPr>
        <p:spPr>
          <a:xfrm flipV="1">
            <a:off x="8793818" y="2639010"/>
            <a:ext cx="1483686" cy="75958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95" name="AutoShape 95"/>
          <p:cNvSpPr/>
          <p:nvPr/>
        </p:nvSpPr>
        <p:spPr>
          <a:xfrm>
            <a:off x="13574141" y="2656637"/>
            <a:ext cx="1484671" cy="74196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96" name="Freeform 96"/>
          <p:cNvSpPr/>
          <p:nvPr/>
        </p:nvSpPr>
        <p:spPr>
          <a:xfrm rot="-7726251">
            <a:off x="-6358104" y="5592202"/>
            <a:ext cx="13730046" cy="12931207"/>
          </a:xfrm>
          <a:custGeom>
            <a:avLst/>
            <a:gdLst/>
            <a:ahLst/>
            <a:cxnLst/>
            <a:rect l="l" t="t" r="r" b="b"/>
            <a:pathLst>
              <a:path w="13730046" h="12931207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437773">
            <a:off x="13770320" y="-6241286"/>
            <a:ext cx="12640239" cy="11904807"/>
          </a:xfrm>
          <a:custGeom>
            <a:avLst/>
            <a:gdLst/>
            <a:ahLst/>
            <a:cxnLst/>
            <a:rect l="l" t="t" r="r" b="b"/>
            <a:pathLst>
              <a:path w="12640239" h="11904807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344233" y="3641897"/>
            <a:ext cx="2634060" cy="293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9"/>
              </a:lnSpc>
            </a:pPr>
            <a:r>
              <a:rPr lang="en-US" sz="2199">
                <a:solidFill>
                  <a:srgbClr val="0B1D3E"/>
                </a:solidFill>
                <a:latin typeface="Gilda Display"/>
                <a:ea typeface="Gilda Display"/>
                <a:cs typeface="Gilda Display"/>
                <a:sym typeface="Gilda Display"/>
              </a:rPr>
              <a:t>Modelo Utilizado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21313" y="4198554"/>
            <a:ext cx="4738647" cy="1984402"/>
            <a:chOff x="0" y="0"/>
            <a:chExt cx="6318196" cy="264586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6318196" cy="2645869"/>
              <a:chOff x="0" y="0"/>
              <a:chExt cx="1248039" cy="5226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248039" cy="522641"/>
              </a:xfrm>
              <a:custGeom>
                <a:avLst/>
                <a:gdLst/>
                <a:ahLst/>
                <a:cxnLst/>
                <a:rect l="l" t="t" r="r" b="b"/>
                <a:pathLst>
                  <a:path w="1248039" h="522641">
                    <a:moveTo>
                      <a:pt x="83323" y="0"/>
                    </a:moveTo>
                    <a:lnTo>
                      <a:pt x="1164716" y="0"/>
                    </a:lnTo>
                    <a:cubicBezTo>
                      <a:pt x="1210734" y="0"/>
                      <a:pt x="1248039" y="37305"/>
                      <a:pt x="1248039" y="83323"/>
                    </a:cubicBezTo>
                    <a:lnTo>
                      <a:pt x="1248039" y="439318"/>
                    </a:lnTo>
                    <a:cubicBezTo>
                      <a:pt x="1248039" y="461417"/>
                      <a:pt x="1239260" y="482610"/>
                      <a:pt x="1223634" y="498236"/>
                    </a:cubicBezTo>
                    <a:cubicBezTo>
                      <a:pt x="1208008" y="513862"/>
                      <a:pt x="1186814" y="522641"/>
                      <a:pt x="1164716" y="522641"/>
                    </a:cubicBezTo>
                    <a:lnTo>
                      <a:pt x="83323" y="522641"/>
                    </a:lnTo>
                    <a:cubicBezTo>
                      <a:pt x="37305" y="522641"/>
                      <a:pt x="0" y="485336"/>
                      <a:pt x="0" y="439318"/>
                    </a:cubicBezTo>
                    <a:lnTo>
                      <a:pt x="0" y="83323"/>
                    </a:lnTo>
                    <a:cubicBezTo>
                      <a:pt x="0" y="37305"/>
                      <a:pt x="37305" y="0"/>
                      <a:pt x="83323" y="0"/>
                    </a:cubicBezTo>
                    <a:close/>
                  </a:path>
                </a:pathLst>
              </a:custGeom>
              <a:solidFill>
                <a:srgbClr val="D9E3F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1248039" cy="5702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1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                      </a:t>
                </a:r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875076" y="13881"/>
              <a:ext cx="4568045" cy="685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Modelo Utilizado</a:t>
              </a:r>
            </a:p>
          </p:txBody>
        </p:sp>
        <p:sp>
          <p:nvSpPr>
            <p:cNvPr id="9" name="Freeform 9"/>
            <p:cNvSpPr/>
            <p:nvPr/>
          </p:nvSpPr>
          <p:spPr>
            <a:xfrm rot="-24000">
              <a:off x="456847" y="756178"/>
              <a:ext cx="2048325" cy="1639437"/>
            </a:xfrm>
            <a:custGeom>
              <a:avLst/>
              <a:gdLst/>
              <a:ahLst/>
              <a:cxnLst/>
              <a:rect l="l" t="t" r="r" b="b"/>
              <a:pathLst>
                <a:path w="2048325" h="1639437">
                  <a:moveTo>
                    <a:pt x="11347" y="0"/>
                  </a:moveTo>
                  <a:lnTo>
                    <a:pt x="2048325" y="14221"/>
                  </a:lnTo>
                  <a:lnTo>
                    <a:pt x="2036979" y="1639437"/>
                  </a:lnTo>
                  <a:lnTo>
                    <a:pt x="0" y="1625216"/>
                  </a:lnTo>
                  <a:lnTo>
                    <a:pt x="11347" y="0"/>
                  </a:lnTo>
                  <a:close/>
                </a:path>
              </a:pathLst>
            </a:custGeom>
            <a:blipFill>
              <a:blip r:embed="rId4"/>
              <a:stretch>
                <a:fillRect l="-35841" t="-162126" r="-202265" b="-37311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2789974" y="1528272"/>
              <a:ext cx="3357229" cy="7298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Dataset sintético basado en escenarios SOC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89974" y="1069354"/>
              <a:ext cx="3357229" cy="4402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19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Random Forest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26735" y="4151299"/>
            <a:ext cx="4834530" cy="1984402"/>
            <a:chOff x="0" y="0"/>
            <a:chExt cx="6446040" cy="2645869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446040" cy="2645869"/>
              <a:chOff x="0" y="0"/>
              <a:chExt cx="1200191" cy="4926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00191" cy="492635"/>
              </a:xfrm>
              <a:custGeom>
                <a:avLst/>
                <a:gdLst/>
                <a:ahLst/>
                <a:cxnLst/>
                <a:rect l="l" t="t" r="r" b="b"/>
                <a:pathLst>
                  <a:path w="1200191" h="492635">
                    <a:moveTo>
                      <a:pt x="81670" y="0"/>
                    </a:moveTo>
                    <a:lnTo>
                      <a:pt x="1118520" y="0"/>
                    </a:lnTo>
                    <a:cubicBezTo>
                      <a:pt x="1163626" y="0"/>
                      <a:pt x="1200191" y="36565"/>
                      <a:pt x="1200191" y="81670"/>
                    </a:cubicBezTo>
                    <a:lnTo>
                      <a:pt x="1200191" y="410965"/>
                    </a:lnTo>
                    <a:cubicBezTo>
                      <a:pt x="1200191" y="432625"/>
                      <a:pt x="1191586" y="453399"/>
                      <a:pt x="1176270" y="468715"/>
                    </a:cubicBezTo>
                    <a:cubicBezTo>
                      <a:pt x="1160954" y="484031"/>
                      <a:pt x="1140181" y="492635"/>
                      <a:pt x="1118520" y="492635"/>
                    </a:cubicBezTo>
                    <a:lnTo>
                      <a:pt x="81670" y="492635"/>
                    </a:lnTo>
                    <a:cubicBezTo>
                      <a:pt x="60010" y="492635"/>
                      <a:pt x="39237" y="484031"/>
                      <a:pt x="23921" y="468715"/>
                    </a:cubicBezTo>
                    <a:cubicBezTo>
                      <a:pt x="8605" y="453399"/>
                      <a:pt x="0" y="432625"/>
                      <a:pt x="0" y="410965"/>
                    </a:cubicBezTo>
                    <a:lnTo>
                      <a:pt x="0" y="81670"/>
                    </a:lnTo>
                    <a:cubicBezTo>
                      <a:pt x="0" y="60010"/>
                      <a:pt x="8605" y="39237"/>
                      <a:pt x="23921" y="23921"/>
                    </a:cubicBezTo>
                    <a:cubicBezTo>
                      <a:pt x="39237" y="8605"/>
                      <a:pt x="60010" y="0"/>
                      <a:pt x="81670" y="0"/>
                    </a:cubicBezTo>
                    <a:close/>
                  </a:path>
                </a:pathLst>
              </a:custGeom>
              <a:solidFill>
                <a:srgbClr val="D9E3F0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1200191" cy="540260"/>
              </a:xfrm>
              <a:prstGeom prst="rect">
                <a:avLst/>
              </a:prstGeom>
            </p:spPr>
            <p:txBody>
              <a:bodyPr lIns="53894" tIns="53894" rIns="53894" bIns="53894" rtlCol="0" anchor="ctr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1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                      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44324" y="40289"/>
              <a:ext cx="6301716" cy="732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55"/>
                </a:lnSpc>
              </a:pPr>
              <a:r>
                <a:rPr lang="en-US" sz="3182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Posibles Acciones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57435" y="1050319"/>
              <a:ext cx="2696405" cy="1194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6"/>
                </a:lnSpc>
              </a:pPr>
              <a:r>
                <a:rPr lang="en-US" sz="1697" b="1" dirty="0" err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Escalar</a:t>
              </a:r>
              <a:r>
                <a:rPr lang="en-US" sz="1697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1697" b="1" dirty="0" err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Incidente</a:t>
              </a:r>
              <a:r>
                <a:rPr lang="en-US" sz="1697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</a:p>
            <a:p>
              <a:pPr algn="l">
                <a:lnSpc>
                  <a:spcPts val="2376"/>
                </a:lnSpc>
              </a:pPr>
              <a:r>
                <a:rPr lang="en-US" sz="1697" b="1" dirty="0" err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Aislar</a:t>
              </a:r>
              <a:r>
                <a:rPr lang="en-US" sz="1697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host</a:t>
              </a:r>
            </a:p>
            <a:p>
              <a:pPr algn="l">
                <a:lnSpc>
                  <a:spcPts val="2376"/>
                </a:lnSpc>
              </a:pPr>
              <a:r>
                <a:rPr lang="en-US" sz="1697" b="1" dirty="0" err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Ignorar</a:t>
              </a:r>
              <a:endParaRPr lang="en-US" sz="1697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7028" y="1082125"/>
              <a:ext cx="2548751" cy="1162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6"/>
                </a:lnSpc>
              </a:pPr>
              <a:r>
                <a:rPr lang="en-US" sz="1697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Investigar</a:t>
              </a:r>
            </a:p>
            <a:p>
              <a:pPr algn="l">
                <a:lnSpc>
                  <a:spcPts val="2376"/>
                </a:lnSpc>
              </a:pPr>
              <a:endParaRPr lang="en-US" sz="169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l">
                <a:lnSpc>
                  <a:spcPts val="2376"/>
                </a:lnSpc>
              </a:pPr>
              <a:r>
                <a:rPr lang="en-US" sz="1697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Bloquear IP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59100" y="1014896"/>
              <a:ext cx="476501" cy="551380"/>
            </a:xfrm>
            <a:custGeom>
              <a:avLst/>
              <a:gdLst/>
              <a:ahLst/>
              <a:cxnLst/>
              <a:rect l="l" t="t" r="r" b="b"/>
              <a:pathLst>
                <a:path w="476501" h="551380">
                  <a:moveTo>
                    <a:pt x="0" y="0"/>
                  </a:moveTo>
                  <a:lnTo>
                    <a:pt x="476502" y="0"/>
                  </a:lnTo>
                  <a:lnTo>
                    <a:pt x="476502" y="551380"/>
                  </a:lnTo>
                  <a:lnTo>
                    <a:pt x="0" y="551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9017" t="-961195" r="-818479" b="-287078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410293" y="1856896"/>
              <a:ext cx="486736" cy="477376"/>
            </a:xfrm>
            <a:custGeom>
              <a:avLst/>
              <a:gdLst/>
              <a:ahLst/>
              <a:cxnLst/>
              <a:rect l="l" t="t" r="r" b="b"/>
              <a:pathLst>
                <a:path w="486736" h="477376">
                  <a:moveTo>
                    <a:pt x="0" y="0"/>
                  </a:moveTo>
                  <a:lnTo>
                    <a:pt x="486735" y="0"/>
                  </a:lnTo>
                  <a:lnTo>
                    <a:pt x="486735" y="477376"/>
                  </a:lnTo>
                  <a:lnTo>
                    <a:pt x="0" y="477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10597" t="-1093936" r="-376971" b="-320248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2987121" y="1014896"/>
              <a:ext cx="433653" cy="465384"/>
            </a:xfrm>
            <a:custGeom>
              <a:avLst/>
              <a:gdLst/>
              <a:ahLst/>
              <a:cxnLst/>
              <a:rect l="l" t="t" r="r" b="b"/>
              <a:pathLst>
                <a:path w="433653" h="465384">
                  <a:moveTo>
                    <a:pt x="0" y="0"/>
                  </a:moveTo>
                  <a:lnTo>
                    <a:pt x="433654" y="0"/>
                  </a:lnTo>
                  <a:lnTo>
                    <a:pt x="433654" y="465384"/>
                  </a:lnTo>
                  <a:lnTo>
                    <a:pt x="0" y="465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1842" t="-1162276" r="-831395" b="-213552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3024167" y="1443394"/>
              <a:ext cx="361257" cy="477376"/>
            </a:xfrm>
            <a:custGeom>
              <a:avLst/>
              <a:gdLst/>
              <a:ahLst/>
              <a:cxnLst/>
              <a:rect l="l" t="t" r="r" b="b"/>
              <a:pathLst>
                <a:path w="361257" h="477376">
                  <a:moveTo>
                    <a:pt x="0" y="0"/>
                  </a:moveTo>
                  <a:lnTo>
                    <a:pt x="361257" y="0"/>
                  </a:lnTo>
                  <a:lnTo>
                    <a:pt x="361257" y="477375"/>
                  </a:lnTo>
                  <a:lnTo>
                    <a:pt x="0" y="477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24840" t="-1392977" r="-617400" b="-262061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3442695" y="7059256"/>
            <a:ext cx="4834530" cy="2082663"/>
            <a:chOff x="0" y="0"/>
            <a:chExt cx="6446040" cy="2776884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6446040" cy="2776884"/>
              <a:chOff x="0" y="0"/>
              <a:chExt cx="1200191" cy="51702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200191" cy="517029"/>
              </a:xfrm>
              <a:custGeom>
                <a:avLst/>
                <a:gdLst/>
                <a:ahLst/>
                <a:cxnLst/>
                <a:rect l="l" t="t" r="r" b="b"/>
                <a:pathLst>
                  <a:path w="1200191" h="517029">
                    <a:moveTo>
                      <a:pt x="81670" y="0"/>
                    </a:moveTo>
                    <a:lnTo>
                      <a:pt x="1118520" y="0"/>
                    </a:lnTo>
                    <a:cubicBezTo>
                      <a:pt x="1163626" y="0"/>
                      <a:pt x="1200191" y="36565"/>
                      <a:pt x="1200191" y="81670"/>
                    </a:cubicBezTo>
                    <a:lnTo>
                      <a:pt x="1200191" y="435359"/>
                    </a:lnTo>
                    <a:cubicBezTo>
                      <a:pt x="1200191" y="457019"/>
                      <a:pt x="1191586" y="477792"/>
                      <a:pt x="1176270" y="493108"/>
                    </a:cubicBezTo>
                    <a:cubicBezTo>
                      <a:pt x="1160954" y="508425"/>
                      <a:pt x="1140181" y="517029"/>
                      <a:pt x="1118520" y="517029"/>
                    </a:cubicBezTo>
                    <a:lnTo>
                      <a:pt x="81670" y="517029"/>
                    </a:lnTo>
                    <a:cubicBezTo>
                      <a:pt x="60010" y="517029"/>
                      <a:pt x="39237" y="508425"/>
                      <a:pt x="23921" y="493108"/>
                    </a:cubicBezTo>
                    <a:cubicBezTo>
                      <a:pt x="8605" y="477792"/>
                      <a:pt x="0" y="457019"/>
                      <a:pt x="0" y="435359"/>
                    </a:cubicBezTo>
                    <a:lnTo>
                      <a:pt x="0" y="81670"/>
                    </a:lnTo>
                    <a:cubicBezTo>
                      <a:pt x="0" y="60010"/>
                      <a:pt x="8605" y="39237"/>
                      <a:pt x="23921" y="23921"/>
                    </a:cubicBezTo>
                    <a:cubicBezTo>
                      <a:pt x="39237" y="8605"/>
                      <a:pt x="60010" y="0"/>
                      <a:pt x="81670" y="0"/>
                    </a:cubicBezTo>
                    <a:close/>
                  </a:path>
                </a:pathLst>
              </a:custGeom>
              <a:solidFill>
                <a:srgbClr val="D9E3F0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200191" cy="564654"/>
              </a:xfrm>
              <a:prstGeom prst="rect">
                <a:avLst/>
              </a:prstGeom>
            </p:spPr>
            <p:txBody>
              <a:bodyPr lIns="53894" tIns="53894" rIns="53894" bIns="53894" rtlCol="0" anchor="ctr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1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                      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44324" y="40289"/>
              <a:ext cx="6301716" cy="732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55"/>
                </a:lnSpc>
              </a:pPr>
              <a:r>
                <a:rPr lang="en-US" sz="3182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Decisión Final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57435" y="1050319"/>
              <a:ext cx="2696405" cy="380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6"/>
                </a:lnSpc>
              </a:pPr>
              <a:endParaRPr/>
            </a:p>
          </p:txBody>
        </p:sp>
        <p:sp>
          <p:nvSpPr>
            <p:cNvPr id="29" name="Freeform 29"/>
            <p:cNvSpPr/>
            <p:nvPr/>
          </p:nvSpPr>
          <p:spPr>
            <a:xfrm>
              <a:off x="502807" y="953770"/>
              <a:ext cx="1233494" cy="1491037"/>
            </a:xfrm>
            <a:custGeom>
              <a:avLst/>
              <a:gdLst/>
              <a:ahLst/>
              <a:cxnLst/>
              <a:rect l="l" t="t" r="r" b="b"/>
              <a:pathLst>
                <a:path w="1233494" h="1491037">
                  <a:moveTo>
                    <a:pt x="0" y="0"/>
                  </a:moveTo>
                  <a:lnTo>
                    <a:pt x="1233494" y="0"/>
                  </a:lnTo>
                  <a:lnTo>
                    <a:pt x="1233494" y="1491038"/>
                  </a:lnTo>
                  <a:lnTo>
                    <a:pt x="0" y="1491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2479641" y="1399448"/>
              <a:ext cx="3376014" cy="113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2"/>
                </a:lnSpc>
                <a:spcBef>
                  <a:spcPct val="0"/>
                </a:spcBef>
              </a:pPr>
              <a:r>
                <a:rPr lang="en-US" sz="1623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 modelo no sustituye al operador, le ayuda en la toma de decisiones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79641" y="915670"/>
              <a:ext cx="3357229" cy="4402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19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Operador Decide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25609" y="7155641"/>
            <a:ext cx="4834530" cy="1889892"/>
            <a:chOff x="0" y="0"/>
            <a:chExt cx="6446040" cy="2519856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6446040" cy="2519856"/>
              <a:chOff x="0" y="0"/>
              <a:chExt cx="1200191" cy="46917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00191" cy="469173"/>
              </a:xfrm>
              <a:custGeom>
                <a:avLst/>
                <a:gdLst/>
                <a:ahLst/>
                <a:cxnLst/>
                <a:rect l="l" t="t" r="r" b="b"/>
                <a:pathLst>
                  <a:path w="1200191" h="469173">
                    <a:moveTo>
                      <a:pt x="81670" y="0"/>
                    </a:moveTo>
                    <a:lnTo>
                      <a:pt x="1118520" y="0"/>
                    </a:lnTo>
                    <a:cubicBezTo>
                      <a:pt x="1163626" y="0"/>
                      <a:pt x="1200191" y="36565"/>
                      <a:pt x="1200191" y="81670"/>
                    </a:cubicBezTo>
                    <a:lnTo>
                      <a:pt x="1200191" y="387503"/>
                    </a:lnTo>
                    <a:cubicBezTo>
                      <a:pt x="1200191" y="409163"/>
                      <a:pt x="1191586" y="429936"/>
                      <a:pt x="1176270" y="445252"/>
                    </a:cubicBezTo>
                    <a:cubicBezTo>
                      <a:pt x="1160954" y="460568"/>
                      <a:pt x="1140181" y="469173"/>
                      <a:pt x="1118520" y="469173"/>
                    </a:cubicBezTo>
                    <a:lnTo>
                      <a:pt x="81670" y="469173"/>
                    </a:lnTo>
                    <a:cubicBezTo>
                      <a:pt x="60010" y="469173"/>
                      <a:pt x="39237" y="460568"/>
                      <a:pt x="23921" y="445252"/>
                    </a:cubicBezTo>
                    <a:cubicBezTo>
                      <a:pt x="8605" y="429936"/>
                      <a:pt x="0" y="409163"/>
                      <a:pt x="0" y="387503"/>
                    </a:cubicBezTo>
                    <a:lnTo>
                      <a:pt x="0" y="81670"/>
                    </a:lnTo>
                    <a:cubicBezTo>
                      <a:pt x="0" y="60010"/>
                      <a:pt x="8605" y="39237"/>
                      <a:pt x="23921" y="23921"/>
                    </a:cubicBezTo>
                    <a:cubicBezTo>
                      <a:pt x="39237" y="8605"/>
                      <a:pt x="60010" y="0"/>
                      <a:pt x="81670" y="0"/>
                    </a:cubicBezTo>
                    <a:close/>
                  </a:path>
                </a:pathLst>
              </a:custGeom>
              <a:solidFill>
                <a:srgbClr val="D9E3F0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1200191" cy="516798"/>
              </a:xfrm>
              <a:prstGeom prst="rect">
                <a:avLst/>
              </a:prstGeom>
            </p:spPr>
            <p:txBody>
              <a:bodyPr lIns="53894" tIns="53894" rIns="53894" bIns="53894" rtlCol="0" anchor="ctr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1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                      </a:t>
                </a:r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44324" y="-85725"/>
              <a:ext cx="6301716" cy="732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55"/>
                </a:lnSpc>
              </a:pPr>
              <a:r>
                <a:rPr lang="en-US" sz="3182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Interpretabilidad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57435" y="924305"/>
              <a:ext cx="2696405" cy="380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6"/>
                </a:lnSpc>
              </a:pPr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403171" y="708583"/>
              <a:ext cx="1317612" cy="1339377"/>
            </a:xfrm>
            <a:custGeom>
              <a:avLst/>
              <a:gdLst/>
              <a:ahLst/>
              <a:cxnLst/>
              <a:rect l="l" t="t" r="r" b="b"/>
              <a:pathLst>
                <a:path w="1317612" h="1339377">
                  <a:moveTo>
                    <a:pt x="0" y="0"/>
                  </a:moveTo>
                  <a:lnTo>
                    <a:pt x="1317612" y="0"/>
                  </a:lnTo>
                  <a:lnTo>
                    <a:pt x="1317612" y="1339377"/>
                  </a:lnTo>
                  <a:lnTo>
                    <a:pt x="0" y="1339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2021512" y="803451"/>
              <a:ext cx="3693317" cy="14662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 incluye XAI para facilitar la comprensión de las decisiones sugeridaspor la IA 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41" name="TextBox 41"/>
            <p:cNvSpPr txBox="1"/>
            <p:nvPr/>
          </p:nvSpPr>
          <p:spPr>
            <a:xfrm>
              <a:off x="0" y="171450"/>
              <a:ext cx="18770600" cy="161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D9E3F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Asistencia con IA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2130493"/>
              <a:ext cx="18770600" cy="619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428040" y="4198554"/>
            <a:ext cx="4738647" cy="1984402"/>
            <a:chOff x="0" y="0"/>
            <a:chExt cx="6318196" cy="2645869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6318196" cy="2645869"/>
              <a:chOff x="0" y="0"/>
              <a:chExt cx="1248039" cy="52264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248039" cy="522641"/>
              </a:xfrm>
              <a:custGeom>
                <a:avLst/>
                <a:gdLst/>
                <a:ahLst/>
                <a:cxnLst/>
                <a:rect l="l" t="t" r="r" b="b"/>
                <a:pathLst>
                  <a:path w="1248039" h="522641">
                    <a:moveTo>
                      <a:pt x="83323" y="0"/>
                    </a:moveTo>
                    <a:lnTo>
                      <a:pt x="1164716" y="0"/>
                    </a:lnTo>
                    <a:cubicBezTo>
                      <a:pt x="1210734" y="0"/>
                      <a:pt x="1248039" y="37305"/>
                      <a:pt x="1248039" y="83323"/>
                    </a:cubicBezTo>
                    <a:lnTo>
                      <a:pt x="1248039" y="439318"/>
                    </a:lnTo>
                    <a:cubicBezTo>
                      <a:pt x="1248039" y="461417"/>
                      <a:pt x="1239260" y="482610"/>
                      <a:pt x="1223634" y="498236"/>
                    </a:cubicBezTo>
                    <a:cubicBezTo>
                      <a:pt x="1208008" y="513862"/>
                      <a:pt x="1186814" y="522641"/>
                      <a:pt x="1164716" y="522641"/>
                    </a:cubicBezTo>
                    <a:lnTo>
                      <a:pt x="83323" y="522641"/>
                    </a:lnTo>
                    <a:cubicBezTo>
                      <a:pt x="37305" y="522641"/>
                      <a:pt x="0" y="485336"/>
                      <a:pt x="0" y="439318"/>
                    </a:cubicBezTo>
                    <a:lnTo>
                      <a:pt x="0" y="83323"/>
                    </a:lnTo>
                    <a:cubicBezTo>
                      <a:pt x="0" y="37305"/>
                      <a:pt x="37305" y="0"/>
                      <a:pt x="83323" y="0"/>
                    </a:cubicBezTo>
                    <a:close/>
                  </a:path>
                </a:pathLst>
              </a:custGeom>
              <a:solidFill>
                <a:srgbClr val="D9E3F0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47625"/>
                <a:ext cx="1248039" cy="5702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1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                      </a:t>
                </a: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141462" y="52331"/>
              <a:ext cx="6176734" cy="685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Función del Modelo</a:t>
              </a:r>
            </a:p>
          </p:txBody>
        </p:sp>
        <p:sp>
          <p:nvSpPr>
            <p:cNvPr id="48" name="Freeform 48"/>
            <p:cNvSpPr/>
            <p:nvPr/>
          </p:nvSpPr>
          <p:spPr>
            <a:xfrm rot="-24000">
              <a:off x="556693" y="733514"/>
              <a:ext cx="1364493" cy="1596870"/>
            </a:xfrm>
            <a:custGeom>
              <a:avLst/>
              <a:gdLst/>
              <a:ahLst/>
              <a:cxnLst/>
              <a:rect l="l" t="t" r="r" b="b"/>
              <a:pathLst>
                <a:path w="1364493" h="1596870">
                  <a:moveTo>
                    <a:pt x="11083" y="0"/>
                  </a:moveTo>
                  <a:lnTo>
                    <a:pt x="1364493" y="9449"/>
                  </a:lnTo>
                  <a:lnTo>
                    <a:pt x="1353411" y="1596870"/>
                  </a:lnTo>
                  <a:lnTo>
                    <a:pt x="0" y="1587422"/>
                  </a:lnTo>
                  <a:lnTo>
                    <a:pt x="11083" y="0"/>
                  </a:lnTo>
                  <a:close/>
                </a:path>
              </a:pathLst>
            </a:custGeom>
            <a:blipFill>
              <a:blip r:embed="rId4"/>
              <a:stretch>
                <a:fillRect l="-58659" t="-355430" r="-429630" b="-300482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2220883" y="1107207"/>
              <a:ext cx="3693317" cy="7298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Recomendar la acción más adecuada ante una alerta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4381399" y="9665751"/>
            <a:ext cx="9525201" cy="299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  <a:spcBef>
                <a:spcPct val="0"/>
              </a:spcBef>
            </a:pPr>
            <a:r>
              <a:rPr lang="en-US" sz="1697" b="1">
                <a:solidFill>
                  <a:srgbClr val="D9E3F0"/>
                </a:solidFill>
                <a:latin typeface="Arial Bold"/>
                <a:ea typeface="Arial Bold"/>
                <a:cs typeface="Arial Bold"/>
                <a:sym typeface="Arial Bold"/>
              </a:rPr>
              <a:t>La IA actúa como sistema de apoyo a la decisión, no como sustituto del analista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481A529-B2BB-54EB-6378-CCBA7BA4C44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9977"/>
          <a:stretch>
            <a:fillRect/>
          </a:stretch>
        </p:blipFill>
        <p:spPr>
          <a:xfrm>
            <a:off x="8977554" y="5556276"/>
            <a:ext cx="300156" cy="3334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46091" y="666750"/>
            <a:ext cx="5863787" cy="4947347"/>
            <a:chOff x="0" y="0"/>
            <a:chExt cx="7818382" cy="659646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818382" cy="6596462"/>
              <a:chOff x="0" y="0"/>
              <a:chExt cx="1413253" cy="119237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13253" cy="1192378"/>
              </a:xfrm>
              <a:custGeom>
                <a:avLst/>
                <a:gdLst/>
                <a:ahLst/>
                <a:cxnLst/>
                <a:rect l="l" t="t" r="r" b="b"/>
                <a:pathLst>
                  <a:path w="1413253" h="1192378">
                    <a:moveTo>
                      <a:pt x="73582" y="0"/>
                    </a:moveTo>
                    <a:lnTo>
                      <a:pt x="1339670" y="0"/>
                    </a:lnTo>
                    <a:cubicBezTo>
                      <a:pt x="1359186" y="0"/>
                      <a:pt x="1377902" y="7752"/>
                      <a:pt x="1391701" y="21552"/>
                    </a:cubicBezTo>
                    <a:cubicBezTo>
                      <a:pt x="1405500" y="35351"/>
                      <a:pt x="1413253" y="54067"/>
                      <a:pt x="1413253" y="73582"/>
                    </a:cubicBezTo>
                    <a:lnTo>
                      <a:pt x="1413253" y="1118796"/>
                    </a:lnTo>
                    <a:cubicBezTo>
                      <a:pt x="1413253" y="1138311"/>
                      <a:pt x="1405500" y="1157027"/>
                      <a:pt x="1391701" y="1170826"/>
                    </a:cubicBezTo>
                    <a:cubicBezTo>
                      <a:pt x="1377902" y="1184626"/>
                      <a:pt x="1359186" y="1192378"/>
                      <a:pt x="1339670" y="1192378"/>
                    </a:cubicBezTo>
                    <a:lnTo>
                      <a:pt x="73582" y="1192378"/>
                    </a:lnTo>
                    <a:cubicBezTo>
                      <a:pt x="54067" y="1192378"/>
                      <a:pt x="35351" y="1184626"/>
                      <a:pt x="21552" y="1170826"/>
                    </a:cubicBezTo>
                    <a:cubicBezTo>
                      <a:pt x="7752" y="1157027"/>
                      <a:pt x="0" y="1138311"/>
                      <a:pt x="0" y="1118796"/>
                    </a:cubicBezTo>
                    <a:lnTo>
                      <a:pt x="0" y="73582"/>
                    </a:lnTo>
                    <a:cubicBezTo>
                      <a:pt x="0" y="54067"/>
                      <a:pt x="7752" y="35351"/>
                      <a:pt x="21552" y="21552"/>
                    </a:cubicBezTo>
                    <a:cubicBezTo>
                      <a:pt x="35351" y="7752"/>
                      <a:pt x="54067" y="0"/>
                      <a:pt x="73582" y="0"/>
                    </a:cubicBezTo>
                    <a:close/>
                  </a:path>
                </a:pathLst>
              </a:custGeom>
              <a:solidFill>
                <a:srgbClr val="D9E3F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413253" cy="12400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1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                      </a:t>
                </a:r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919810" y="223763"/>
              <a:ext cx="5923249" cy="556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2"/>
                </a:lnSpc>
              </a:pPr>
              <a:r>
                <a:rPr lang="en-US" sz="2458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Automatización del flujo SOC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61124" y="1198084"/>
              <a:ext cx="2946573" cy="421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96"/>
                </a:lnSpc>
              </a:pPr>
              <a:r>
                <a:rPr lang="en-US" sz="185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Alerta generada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80537" y="2362220"/>
              <a:ext cx="3307747" cy="421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96"/>
                </a:lnSpc>
              </a:pPr>
              <a:r>
                <a:rPr lang="en-US" sz="185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Registro automático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5002" y="3531221"/>
              <a:ext cx="4098817" cy="421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96"/>
                </a:lnSpc>
              </a:pPr>
              <a:r>
                <a:rPr lang="en-US" sz="185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Asignación a operador (IA)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73666" y="4700223"/>
              <a:ext cx="4921490" cy="421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96"/>
                </a:lnSpc>
              </a:pPr>
              <a:r>
                <a:rPr lang="en-US" sz="185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Recomendación de acción (IA)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85654" y="5869225"/>
              <a:ext cx="3697513" cy="421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96"/>
                </a:lnSpc>
              </a:pPr>
              <a:r>
                <a:rPr lang="en-US" sz="185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Gestión del incidente</a:t>
              </a:r>
            </a:p>
          </p:txBody>
        </p:sp>
        <p:sp>
          <p:nvSpPr>
            <p:cNvPr id="12" name="AutoShape 12"/>
            <p:cNvSpPr/>
            <p:nvPr/>
          </p:nvSpPr>
          <p:spPr>
            <a:xfrm flipV="1">
              <a:off x="3881434" y="1799807"/>
              <a:ext cx="0" cy="504222"/>
            </a:xfrm>
            <a:prstGeom prst="line">
              <a:avLst/>
            </a:prstGeom>
            <a:ln w="55513" cap="flat">
              <a:solidFill>
                <a:srgbClr val="21A1FE"/>
              </a:solidFill>
              <a:prstDash val="solid"/>
              <a:headEnd type="arrow" w="med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>
            <a:xfrm flipV="1">
              <a:off x="3909191" y="3022917"/>
              <a:ext cx="0" cy="504222"/>
            </a:xfrm>
            <a:prstGeom prst="line">
              <a:avLst/>
            </a:prstGeom>
            <a:ln w="55513" cap="flat">
              <a:solidFill>
                <a:srgbClr val="21A1FE"/>
              </a:solidFill>
              <a:prstDash val="solid"/>
              <a:headEnd type="arrow" w="med" len="sm"/>
              <a:tailEnd type="none" w="sm" len="sm"/>
            </a:ln>
          </p:spPr>
        </p:sp>
        <p:sp>
          <p:nvSpPr>
            <p:cNvPr id="14" name="AutoShape 14"/>
            <p:cNvSpPr/>
            <p:nvPr/>
          </p:nvSpPr>
          <p:spPr>
            <a:xfrm flipV="1">
              <a:off x="3909191" y="4128419"/>
              <a:ext cx="0" cy="504222"/>
            </a:xfrm>
            <a:prstGeom prst="line">
              <a:avLst/>
            </a:prstGeom>
            <a:ln w="55513" cap="flat">
              <a:solidFill>
                <a:srgbClr val="21A1FE"/>
              </a:solidFill>
              <a:prstDash val="solid"/>
              <a:headEnd type="arrow" w="med" len="sm"/>
              <a:tailEnd type="none" w="sm" len="sm"/>
            </a:ln>
          </p:spPr>
        </p:sp>
        <p:sp>
          <p:nvSpPr>
            <p:cNvPr id="15" name="AutoShape 15"/>
            <p:cNvSpPr/>
            <p:nvPr/>
          </p:nvSpPr>
          <p:spPr>
            <a:xfrm flipV="1">
              <a:off x="3909191" y="5354312"/>
              <a:ext cx="0" cy="504222"/>
            </a:xfrm>
            <a:prstGeom prst="line">
              <a:avLst/>
            </a:prstGeom>
            <a:ln w="55513" cap="flat">
              <a:solidFill>
                <a:srgbClr val="21A1FE"/>
              </a:solidFill>
              <a:prstDash val="solid"/>
              <a:headEnd type="arrow" w="med" len="sm"/>
              <a:tailEnd type="none" w="sm" len="sm"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089891" y="5256045"/>
            <a:ext cx="5540424" cy="4174423"/>
            <a:chOff x="0" y="0"/>
            <a:chExt cx="7387232" cy="5565898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387232" cy="5565898"/>
              <a:chOff x="0" y="0"/>
              <a:chExt cx="1413253" cy="106481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3253" cy="1064813"/>
              </a:xfrm>
              <a:custGeom>
                <a:avLst/>
                <a:gdLst/>
                <a:ahLst/>
                <a:cxnLst/>
                <a:rect l="l" t="t" r="r" b="b"/>
                <a:pathLst>
                  <a:path w="1413253" h="1064813">
                    <a:moveTo>
                      <a:pt x="73582" y="0"/>
                    </a:moveTo>
                    <a:lnTo>
                      <a:pt x="1339670" y="0"/>
                    </a:lnTo>
                    <a:cubicBezTo>
                      <a:pt x="1359186" y="0"/>
                      <a:pt x="1377902" y="7752"/>
                      <a:pt x="1391701" y="21552"/>
                    </a:cubicBezTo>
                    <a:cubicBezTo>
                      <a:pt x="1405500" y="35351"/>
                      <a:pt x="1413253" y="54067"/>
                      <a:pt x="1413253" y="73582"/>
                    </a:cubicBezTo>
                    <a:lnTo>
                      <a:pt x="1413253" y="991231"/>
                    </a:lnTo>
                    <a:cubicBezTo>
                      <a:pt x="1413253" y="1010746"/>
                      <a:pt x="1405500" y="1029462"/>
                      <a:pt x="1391701" y="1043261"/>
                    </a:cubicBezTo>
                    <a:cubicBezTo>
                      <a:pt x="1377902" y="1057060"/>
                      <a:pt x="1359186" y="1064813"/>
                      <a:pt x="1339670" y="1064813"/>
                    </a:cubicBezTo>
                    <a:lnTo>
                      <a:pt x="73582" y="1064813"/>
                    </a:lnTo>
                    <a:cubicBezTo>
                      <a:pt x="32944" y="1064813"/>
                      <a:pt x="0" y="1031869"/>
                      <a:pt x="0" y="991231"/>
                    </a:cubicBezTo>
                    <a:lnTo>
                      <a:pt x="0" y="73582"/>
                    </a:lnTo>
                    <a:cubicBezTo>
                      <a:pt x="0" y="54067"/>
                      <a:pt x="7752" y="35351"/>
                      <a:pt x="21552" y="21552"/>
                    </a:cubicBezTo>
                    <a:cubicBezTo>
                      <a:pt x="35351" y="7752"/>
                      <a:pt x="54067" y="0"/>
                      <a:pt x="73582" y="0"/>
                    </a:cubicBezTo>
                    <a:close/>
                  </a:path>
                </a:pathLst>
              </a:custGeom>
              <a:solidFill>
                <a:srgbClr val="D9E3F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1413253" cy="11124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1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                      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308589" y="247037"/>
              <a:ext cx="4917287" cy="582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13"/>
                </a:lnSpc>
              </a:pPr>
              <a:r>
                <a:rPr lang="en-US" sz="2581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 del sistema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8402" y="1509241"/>
              <a:ext cx="6170427" cy="2034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78396" lvl="1" indent="-189198" algn="l">
                <a:lnSpc>
                  <a:spcPts val="2453"/>
                </a:lnSpc>
                <a:buFont typeface="Arial"/>
                <a:buChar char="•"/>
              </a:pPr>
              <a:r>
                <a:rPr lang="en-US" sz="1752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Accuracy del modelo </a:t>
              </a:r>
              <a:r>
                <a:rPr lang="en-US" sz="1752" b="1">
                  <a:solidFill>
                    <a:srgbClr val="29957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98 %</a:t>
              </a:r>
            </a:p>
            <a:p>
              <a:pPr algn="l">
                <a:lnSpc>
                  <a:spcPts val="2453"/>
                </a:lnSpc>
              </a:pPr>
              <a:endParaRPr lang="en-US" sz="1752" b="1">
                <a:solidFill>
                  <a:srgbClr val="29957B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378396" lvl="1" indent="-189198" algn="l">
                <a:lnSpc>
                  <a:spcPts val="2453"/>
                </a:lnSpc>
                <a:buFont typeface="Arial"/>
                <a:buChar char="•"/>
              </a:pPr>
              <a:r>
                <a:rPr lang="en-US" sz="1752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Tiempo de asignación de alertas ≈ </a:t>
              </a:r>
              <a:r>
                <a:rPr lang="en-US" sz="1752" b="1">
                  <a:solidFill>
                    <a:srgbClr val="29957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15 s</a:t>
              </a:r>
            </a:p>
            <a:p>
              <a:pPr algn="l">
                <a:lnSpc>
                  <a:spcPts val="2453"/>
                </a:lnSpc>
              </a:pPr>
              <a:endParaRPr lang="en-US" sz="1752" b="1">
                <a:solidFill>
                  <a:srgbClr val="29957B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378396" lvl="1" indent="-189198" algn="l">
                <a:lnSpc>
                  <a:spcPts val="2453"/>
                </a:lnSpc>
                <a:buFont typeface="Arial"/>
                <a:buChar char="•"/>
              </a:pPr>
              <a:r>
                <a:rPr lang="en-US" sz="1752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Tiempo del flujo de entrenamiento ≈</a:t>
              </a:r>
              <a:r>
                <a:rPr lang="en-US" sz="1752" b="1">
                  <a:solidFill>
                    <a:srgbClr val="29957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6 s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1190666" y="3969447"/>
              <a:ext cx="1187194" cy="1360681"/>
            </a:xfrm>
            <a:custGeom>
              <a:avLst/>
              <a:gdLst/>
              <a:ahLst/>
              <a:cxnLst/>
              <a:rect l="l" t="t" r="r" b="b"/>
              <a:pathLst>
                <a:path w="1187194" h="1360681">
                  <a:moveTo>
                    <a:pt x="0" y="0"/>
                  </a:moveTo>
                  <a:lnTo>
                    <a:pt x="1187194" y="0"/>
                  </a:lnTo>
                  <a:lnTo>
                    <a:pt x="1187194" y="1360681"/>
                  </a:lnTo>
                  <a:lnTo>
                    <a:pt x="0" y="1360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3028583" y="3969447"/>
              <a:ext cx="1330066" cy="1360681"/>
            </a:xfrm>
            <a:custGeom>
              <a:avLst/>
              <a:gdLst/>
              <a:ahLst/>
              <a:cxnLst/>
              <a:rect l="l" t="t" r="r" b="b"/>
              <a:pathLst>
                <a:path w="1330066" h="1360681">
                  <a:moveTo>
                    <a:pt x="0" y="0"/>
                  </a:moveTo>
                  <a:lnTo>
                    <a:pt x="1330066" y="0"/>
                  </a:lnTo>
                  <a:lnTo>
                    <a:pt x="1330066" y="1360681"/>
                  </a:lnTo>
                  <a:lnTo>
                    <a:pt x="0" y="1360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5013300" y="3969447"/>
              <a:ext cx="1313901" cy="1340715"/>
            </a:xfrm>
            <a:custGeom>
              <a:avLst/>
              <a:gdLst/>
              <a:ahLst/>
              <a:cxnLst/>
              <a:rect l="l" t="t" r="r" b="b"/>
              <a:pathLst>
                <a:path w="1313901" h="1340715">
                  <a:moveTo>
                    <a:pt x="0" y="0"/>
                  </a:moveTo>
                  <a:lnTo>
                    <a:pt x="1313901" y="0"/>
                  </a:lnTo>
                  <a:lnTo>
                    <a:pt x="1313901" y="1340715"/>
                  </a:lnTo>
                  <a:lnTo>
                    <a:pt x="0" y="1340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9295242" y="6792450"/>
            <a:ext cx="6052601" cy="3738318"/>
            <a:chOff x="0" y="0"/>
            <a:chExt cx="8070134" cy="4984424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8070134" cy="3560179"/>
              <a:chOff x="0" y="0"/>
              <a:chExt cx="1888138" cy="83296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888138" cy="832961"/>
              </a:xfrm>
              <a:custGeom>
                <a:avLst/>
                <a:gdLst/>
                <a:ahLst/>
                <a:cxnLst/>
                <a:rect l="l" t="t" r="r" b="b"/>
                <a:pathLst>
                  <a:path w="1888138" h="832961">
                    <a:moveTo>
                      <a:pt x="55076" y="0"/>
                    </a:moveTo>
                    <a:lnTo>
                      <a:pt x="1833063" y="0"/>
                    </a:lnTo>
                    <a:cubicBezTo>
                      <a:pt x="1847669" y="0"/>
                      <a:pt x="1861678" y="5803"/>
                      <a:pt x="1872007" y="16131"/>
                    </a:cubicBezTo>
                    <a:cubicBezTo>
                      <a:pt x="1882335" y="26460"/>
                      <a:pt x="1888138" y="40469"/>
                      <a:pt x="1888138" y="55076"/>
                    </a:cubicBezTo>
                    <a:lnTo>
                      <a:pt x="1888138" y="777886"/>
                    </a:lnTo>
                    <a:cubicBezTo>
                      <a:pt x="1888138" y="792493"/>
                      <a:pt x="1882335" y="806501"/>
                      <a:pt x="1872007" y="816830"/>
                    </a:cubicBezTo>
                    <a:cubicBezTo>
                      <a:pt x="1861678" y="827159"/>
                      <a:pt x="1847669" y="832961"/>
                      <a:pt x="1833063" y="832961"/>
                    </a:cubicBezTo>
                    <a:lnTo>
                      <a:pt x="55076" y="832961"/>
                    </a:lnTo>
                    <a:cubicBezTo>
                      <a:pt x="40469" y="832961"/>
                      <a:pt x="26460" y="827159"/>
                      <a:pt x="16131" y="816830"/>
                    </a:cubicBezTo>
                    <a:cubicBezTo>
                      <a:pt x="5803" y="806501"/>
                      <a:pt x="0" y="792493"/>
                      <a:pt x="0" y="777886"/>
                    </a:cubicBezTo>
                    <a:lnTo>
                      <a:pt x="0" y="55076"/>
                    </a:lnTo>
                    <a:cubicBezTo>
                      <a:pt x="0" y="40469"/>
                      <a:pt x="5803" y="26460"/>
                      <a:pt x="16131" y="16131"/>
                    </a:cubicBezTo>
                    <a:cubicBezTo>
                      <a:pt x="26460" y="5803"/>
                      <a:pt x="40469" y="0"/>
                      <a:pt x="55076" y="0"/>
                    </a:cubicBezTo>
                    <a:close/>
                  </a:path>
                </a:pathLst>
              </a:custGeom>
              <a:solidFill>
                <a:srgbClr val="D9E3F0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1888138" cy="8805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 b="1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                      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872596" y="170356"/>
              <a:ext cx="4459241" cy="577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7"/>
                </a:lnSpc>
              </a:pPr>
              <a:r>
                <a:rPr lang="en-US" sz="2512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Aprendizaje continuo 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97423" y="4655529"/>
              <a:ext cx="3554780" cy="328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06"/>
                </a:lnSpc>
              </a:pPr>
              <a:endParaRPr/>
            </a:p>
          </p:txBody>
        </p:sp>
        <p:sp>
          <p:nvSpPr>
            <p:cNvPr id="31" name="Freeform 31"/>
            <p:cNvSpPr/>
            <p:nvPr/>
          </p:nvSpPr>
          <p:spPr>
            <a:xfrm>
              <a:off x="6466729" y="1103050"/>
              <a:ext cx="717623" cy="758253"/>
            </a:xfrm>
            <a:custGeom>
              <a:avLst/>
              <a:gdLst/>
              <a:ahLst/>
              <a:cxnLst/>
              <a:rect l="l" t="t" r="r" b="b"/>
              <a:pathLst>
                <a:path w="717623" h="758253">
                  <a:moveTo>
                    <a:pt x="0" y="0"/>
                  </a:moveTo>
                  <a:lnTo>
                    <a:pt x="717623" y="0"/>
                  </a:lnTo>
                  <a:lnTo>
                    <a:pt x="717623" y="758253"/>
                  </a:lnTo>
                  <a:lnTo>
                    <a:pt x="0" y="758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>
              <a:off x="5445614" y="1072551"/>
              <a:ext cx="615183" cy="819251"/>
            </a:xfrm>
            <a:custGeom>
              <a:avLst/>
              <a:gdLst/>
              <a:ahLst/>
              <a:cxnLst/>
              <a:rect l="l" t="t" r="r" b="b"/>
              <a:pathLst>
                <a:path w="615183" h="819251">
                  <a:moveTo>
                    <a:pt x="0" y="0"/>
                  </a:moveTo>
                  <a:lnTo>
                    <a:pt x="615182" y="0"/>
                  </a:lnTo>
                  <a:lnTo>
                    <a:pt x="615182" y="819251"/>
                  </a:lnTo>
                  <a:lnTo>
                    <a:pt x="0" y="819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5907423" y="2156046"/>
              <a:ext cx="1276929" cy="1064639"/>
            </a:xfrm>
            <a:custGeom>
              <a:avLst/>
              <a:gdLst/>
              <a:ahLst/>
              <a:cxnLst/>
              <a:rect l="l" t="t" r="r" b="b"/>
              <a:pathLst>
                <a:path w="1276929" h="1064639">
                  <a:moveTo>
                    <a:pt x="0" y="0"/>
                  </a:moveTo>
                  <a:lnTo>
                    <a:pt x="1276929" y="0"/>
                  </a:lnTo>
                  <a:lnTo>
                    <a:pt x="1276929" y="1064639"/>
                  </a:lnTo>
                  <a:lnTo>
                    <a:pt x="0" y="1064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661093" y="1245395"/>
              <a:ext cx="4784520" cy="1975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68843" lvl="1" indent="-184422" algn="l">
                <a:lnSpc>
                  <a:spcPts val="2391"/>
                </a:lnSpc>
                <a:buFont typeface="Arial"/>
                <a:buChar char="•"/>
              </a:pPr>
              <a:r>
                <a:rPr lang="en-US" sz="1708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Registro de decisiones</a:t>
              </a:r>
            </a:p>
            <a:p>
              <a:pPr algn="l">
                <a:lnSpc>
                  <a:spcPts val="2391"/>
                </a:lnSpc>
              </a:pPr>
              <a:endParaRPr lang="en-US" sz="170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368843" lvl="1" indent="-184422" algn="l">
                <a:lnSpc>
                  <a:spcPts val="2391"/>
                </a:lnSpc>
                <a:buFont typeface="Arial"/>
                <a:buChar char="•"/>
              </a:pPr>
              <a:r>
                <a:rPr lang="en-US" sz="1708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Reentrenamiento del modelo</a:t>
              </a:r>
            </a:p>
            <a:p>
              <a:pPr algn="l">
                <a:lnSpc>
                  <a:spcPts val="2391"/>
                </a:lnSpc>
              </a:pPr>
              <a:endParaRPr lang="en-US" sz="170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368843" lvl="1" indent="-184422" algn="l">
                <a:lnSpc>
                  <a:spcPts val="2391"/>
                </a:lnSpc>
                <a:buFont typeface="Arial"/>
                <a:buChar char="•"/>
              </a:pPr>
              <a:r>
                <a:rPr lang="en-US" sz="1708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Entrenamiento de operadores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" y="666750"/>
            <a:ext cx="6754930" cy="4257542"/>
            <a:chOff x="0" y="0"/>
            <a:chExt cx="9006573" cy="5676723"/>
          </a:xfrm>
        </p:grpSpPr>
        <p:sp>
          <p:nvSpPr>
            <p:cNvPr id="36" name="TextBox 36"/>
            <p:cNvSpPr txBox="1"/>
            <p:nvPr/>
          </p:nvSpPr>
          <p:spPr>
            <a:xfrm>
              <a:off x="0" y="5029067"/>
              <a:ext cx="9006573" cy="647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endParaRPr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171450"/>
              <a:ext cx="9006573" cy="45841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D9E3F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Resultados y evaluación del sistema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073342" y="9803463"/>
            <a:ext cx="8141315" cy="299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  <a:spcBef>
                <a:spcPct val="0"/>
              </a:spcBef>
            </a:pPr>
            <a:r>
              <a:rPr lang="en-US" sz="1697" b="1">
                <a:solidFill>
                  <a:srgbClr val="D9E3F0"/>
                </a:solidFill>
                <a:latin typeface="Arial Bold"/>
                <a:ea typeface="Arial Bold"/>
                <a:cs typeface="Arial Bold"/>
                <a:sym typeface="Arial Bold"/>
              </a:rPr>
              <a:t>La automatización reduce tiempos y mejora la eficiencia operativa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7722" b="-7722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1231370"/>
            <a:ext cx="8324850" cy="2028791"/>
            <a:chOff x="0" y="0"/>
            <a:chExt cx="11099800" cy="2705055"/>
          </a:xfrm>
        </p:grpSpPr>
        <p:sp>
          <p:nvSpPr>
            <p:cNvPr id="5" name="TextBox 5"/>
            <p:cNvSpPr txBox="1"/>
            <p:nvPr/>
          </p:nvSpPr>
          <p:spPr>
            <a:xfrm>
              <a:off x="0" y="2057399"/>
              <a:ext cx="11099800" cy="647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D9E3F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Conclusiones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2741871"/>
            <a:ext cx="6859654" cy="1481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6480" lvl="1" indent="-183240" algn="just">
              <a:lnSpc>
                <a:spcPts val="2376"/>
              </a:lnSpc>
              <a:buFont typeface="Arial"/>
              <a:buChar char="•"/>
            </a:pPr>
            <a:r>
              <a:rPr lang="en-US" sz="1697" b="1">
                <a:solidFill>
                  <a:srgbClr val="D9E3F0"/>
                </a:solidFill>
                <a:latin typeface="Arial Bold"/>
                <a:ea typeface="Arial Bold"/>
                <a:cs typeface="Arial Bold"/>
                <a:sym typeface="Arial Bold"/>
              </a:rPr>
              <a:t>Integración de automatización + IA + monitorización en un SOC</a:t>
            </a:r>
          </a:p>
          <a:p>
            <a:pPr algn="just">
              <a:lnSpc>
                <a:spcPts val="2376"/>
              </a:lnSpc>
            </a:pPr>
            <a:endParaRPr lang="en-US" sz="1697" b="1">
              <a:solidFill>
                <a:srgbClr val="D9E3F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366480" lvl="1" indent="-183240" algn="just">
              <a:lnSpc>
                <a:spcPts val="2376"/>
              </a:lnSpc>
              <a:buFont typeface="Arial"/>
              <a:buChar char="•"/>
            </a:pPr>
            <a:r>
              <a:rPr lang="en-US" sz="1697" b="1">
                <a:solidFill>
                  <a:srgbClr val="D9E3F0"/>
                </a:solidFill>
                <a:latin typeface="Arial Bold"/>
                <a:ea typeface="Arial Bold"/>
                <a:cs typeface="Arial Bold"/>
                <a:sym typeface="Arial Bold"/>
              </a:rPr>
              <a:t>Mejora de la gestión de alertas y apoyo a los analistas</a:t>
            </a:r>
          </a:p>
          <a:p>
            <a:pPr algn="just">
              <a:lnSpc>
                <a:spcPts val="2376"/>
              </a:lnSpc>
            </a:pPr>
            <a:endParaRPr lang="en-US" sz="1697" b="1">
              <a:solidFill>
                <a:srgbClr val="D9E3F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366480" lvl="1" indent="-183240" algn="just">
              <a:lnSpc>
                <a:spcPts val="2376"/>
              </a:lnSpc>
              <a:buFont typeface="Arial"/>
              <a:buChar char="•"/>
            </a:pPr>
            <a:r>
              <a:rPr lang="en-US" sz="1697" b="1">
                <a:solidFill>
                  <a:srgbClr val="D9E3F0"/>
                </a:solidFill>
                <a:latin typeface="Arial Bold"/>
                <a:ea typeface="Arial Bold"/>
                <a:cs typeface="Arial Bold"/>
                <a:sym typeface="Arial Bold"/>
              </a:rPr>
              <a:t>Sistema con capacidad de aprendizaje continuo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66750" y="5528910"/>
            <a:ext cx="8324850" cy="2028758"/>
            <a:chOff x="0" y="0"/>
            <a:chExt cx="11099800" cy="2705011"/>
          </a:xfrm>
        </p:grpSpPr>
        <p:sp>
          <p:nvSpPr>
            <p:cNvPr id="9" name="TextBox 9"/>
            <p:cNvSpPr txBox="1"/>
            <p:nvPr/>
          </p:nvSpPr>
          <p:spPr>
            <a:xfrm>
              <a:off x="0" y="2057355"/>
              <a:ext cx="11099800" cy="647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71450"/>
              <a:ext cx="11099800" cy="161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D9E3F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Trabajo Futuro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6750" y="7033537"/>
            <a:ext cx="7824545" cy="2071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6480" lvl="1" indent="-183240" algn="l">
              <a:lnSpc>
                <a:spcPts val="2376"/>
              </a:lnSpc>
              <a:buFont typeface="Arial"/>
              <a:buChar char="•"/>
            </a:pPr>
            <a:r>
              <a:rPr lang="en-US" sz="1697" b="1">
                <a:solidFill>
                  <a:srgbClr val="D9E3F0"/>
                </a:solidFill>
                <a:latin typeface="Arial Bold"/>
                <a:ea typeface="Arial Bold"/>
                <a:cs typeface="Arial Bold"/>
                <a:sym typeface="Arial Bold"/>
              </a:rPr>
              <a:t>Integración con entradas de datos reales</a:t>
            </a:r>
          </a:p>
          <a:p>
            <a:pPr algn="l">
              <a:lnSpc>
                <a:spcPts val="2376"/>
              </a:lnSpc>
            </a:pPr>
            <a:endParaRPr lang="en-US" sz="1697" b="1">
              <a:solidFill>
                <a:srgbClr val="D9E3F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366480" lvl="1" indent="-183240" algn="just">
              <a:lnSpc>
                <a:spcPts val="2376"/>
              </a:lnSpc>
              <a:buFont typeface="Arial"/>
              <a:buChar char="•"/>
            </a:pPr>
            <a:r>
              <a:rPr lang="en-US" sz="1697" b="1">
                <a:solidFill>
                  <a:srgbClr val="D9E3F0"/>
                </a:solidFill>
                <a:latin typeface="Arial Bold"/>
                <a:ea typeface="Arial Bold"/>
                <a:cs typeface="Arial Bold"/>
                <a:sym typeface="Arial Bold"/>
              </a:rPr>
              <a:t>Evaluación con mayor número de analistas</a:t>
            </a:r>
          </a:p>
          <a:p>
            <a:pPr algn="just">
              <a:lnSpc>
                <a:spcPts val="2376"/>
              </a:lnSpc>
            </a:pPr>
            <a:endParaRPr lang="en-US" sz="1697" b="1">
              <a:solidFill>
                <a:srgbClr val="D9E3F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366480" lvl="1" indent="-183240" algn="just">
              <a:lnSpc>
                <a:spcPts val="2376"/>
              </a:lnSpc>
              <a:buFont typeface="Arial"/>
              <a:buChar char="•"/>
            </a:pPr>
            <a:r>
              <a:rPr lang="en-US" sz="1697" b="1">
                <a:solidFill>
                  <a:srgbClr val="D9E3F0"/>
                </a:solidFill>
                <a:latin typeface="Arial Bold"/>
                <a:ea typeface="Arial Bold"/>
                <a:cs typeface="Arial Bold"/>
                <a:sym typeface="Arial Bold"/>
              </a:rPr>
              <a:t>Mejora de los mecanismos de explicabilidad</a:t>
            </a:r>
          </a:p>
          <a:p>
            <a:pPr algn="just">
              <a:lnSpc>
                <a:spcPts val="2376"/>
              </a:lnSpc>
            </a:pPr>
            <a:endParaRPr lang="en-US" sz="1697" b="1">
              <a:solidFill>
                <a:srgbClr val="D9E3F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366480" lvl="1" indent="-183240" algn="just">
              <a:lnSpc>
                <a:spcPts val="2376"/>
              </a:lnSpc>
              <a:buFont typeface="Arial"/>
              <a:buChar char="•"/>
            </a:pPr>
            <a:r>
              <a:rPr lang="en-US" sz="1697" b="1">
                <a:solidFill>
                  <a:srgbClr val="D9E3F0"/>
                </a:solidFill>
                <a:latin typeface="Arial Bold"/>
                <a:ea typeface="Arial Bold"/>
                <a:cs typeface="Arial Bold"/>
                <a:sym typeface="Arial Bold"/>
              </a:rPr>
              <a:t>Evaluación de la escalabilidad del sistema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429</Words>
  <Application>Microsoft Office PowerPoint</Application>
  <PresentationFormat>Custom</PresentationFormat>
  <Paragraphs>108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Gilda Display</vt:lpstr>
      <vt:lpstr>Arial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- Título del Trabajo</dc:title>
  <dc:description>Presentación - Título del Trabajo</dc:description>
  <cp:lastModifiedBy>pablo noriega</cp:lastModifiedBy>
  <cp:revision>3</cp:revision>
  <dcterms:created xsi:type="dcterms:W3CDTF">2006-08-16T00:00:00Z</dcterms:created>
  <dcterms:modified xsi:type="dcterms:W3CDTF">2026-03-16T19:25:28Z</dcterms:modified>
  <dc:identifier>DAHEDBhI5N8</dc:identifier>
</cp:coreProperties>
</file>